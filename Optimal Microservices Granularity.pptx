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8"/>
  </p:notesMasterIdLst>
  <p:sldIdLst>
    <p:sldId id="256" r:id="rId2"/>
    <p:sldId id="307" r:id="rId3"/>
    <p:sldId id="308" r:id="rId4"/>
    <p:sldId id="309" r:id="rId5"/>
    <p:sldId id="306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  <p:sldId id="326" r:id="rId22"/>
    <p:sldId id="283" r:id="rId23"/>
    <p:sldId id="327" r:id="rId24"/>
    <p:sldId id="29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10" r:id="rId47"/>
  </p:sldIdLst>
  <p:sldSz cx="12192000" cy="6858000"/>
  <p:notesSz cx="6858000" cy="9144000"/>
  <p:embeddedFontLst>
    <p:embeddedFont>
      <p:font typeface="Changa" panose="020B0604020202020204" charset="-78"/>
      <p:regular r:id="rId49"/>
      <p:bold r:id="rId50"/>
    </p:embeddedFont>
    <p:embeddedFont>
      <p:font typeface="Lemonada Medium" panose="020B0604020202020204" charset="-78"/>
      <p:regular r:id="rId51"/>
      <p:bold r:id="rId52"/>
    </p:embeddedFont>
    <p:embeddedFont>
      <p:font typeface="Urbanist" panose="020B0604020202020204" charset="0"/>
      <p:regular r:id="rId53"/>
      <p:bold r:id="rId54"/>
      <p:italic r:id="rId55"/>
      <p:boldItalic r:id="rId56"/>
    </p:embeddedFont>
    <p:embeddedFont>
      <p:font typeface="Urbanist Light" panose="020B0604020202020204" charset="0"/>
      <p:regular r:id="rId57"/>
      <p:bold r:id="rId58"/>
      <p:italic r:id="rId59"/>
      <p:boldItalic r:id="rId60"/>
    </p:embeddedFont>
    <p:embeddedFont>
      <p:font typeface="Urbanist Medium" panose="020B0604020202020204" charset="0"/>
      <p:regular r:id="rId61"/>
      <p:bold r:id="rId62"/>
      <p:italic r:id="rId63"/>
      <p:bold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C26042-0A46-4E34-9972-EE30121D522F}">
  <a:tblStyle styleId="{D8C26042-0A46-4E34-9972-EE30121D522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openxmlformats.org/officeDocument/2006/relationships/font" Target="fonts/font15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1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1.fntdata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8D816603-B25F-786C-517B-3DE2FF111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1010C344-CDCC-7996-154C-47F1DE3BD2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DC9D2AA9-4CE8-172D-8B17-2F23B563A8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3464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E8B77394-51E6-C48D-E29A-1628FCF74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51E9AB4A-3EFF-6A62-3AE7-E7215A89E6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694CD6A0-D4B4-ED80-1F28-29788874D8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6607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B36D09AE-2982-883B-DDBF-DF6A8EC59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50FFBC78-AD70-4DFB-3469-8AB36B2579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E36AAAF8-F7A5-5523-DC2D-6E0D3FA885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9122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>
          <a:extLst>
            <a:ext uri="{FF2B5EF4-FFF2-40B4-BE49-F238E27FC236}">
              <a16:creationId xmlns:a16="http://schemas.microsoft.com/office/drawing/2014/main" id="{FC4199A8-2B26-0A34-1CFC-A15A41ADC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6:notes">
            <a:extLst>
              <a:ext uri="{FF2B5EF4-FFF2-40B4-BE49-F238E27FC236}">
                <a16:creationId xmlns:a16="http://schemas.microsoft.com/office/drawing/2014/main" id="{98B2E4F6-6B9B-B70B-F50F-03D6583DA2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6:notes">
            <a:extLst>
              <a:ext uri="{FF2B5EF4-FFF2-40B4-BE49-F238E27FC236}">
                <a16:creationId xmlns:a16="http://schemas.microsoft.com/office/drawing/2014/main" id="{BD14D9A6-E5AE-835C-77A8-ABC6BAA166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12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6EC7839A-642F-B42E-AC3A-A9807CC12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F0B1E08-2314-0F84-6754-276BBBAEC9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BB178C05-85F9-8082-C2D2-7115E8ACFD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1025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29726F66-C880-3B5F-DD05-35662C5F0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191FD0F0-D7CB-75E9-DEB7-C8B7CF1ED2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CB54FCF-B1A7-9158-EC9A-61C9B1B81A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6078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9D50BFDB-19B3-9659-6EF5-0A3FAEA8F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A1884DAA-6959-BFCD-1C8B-BBAB6A0A20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F784C39-4581-E833-E750-B95C4B5833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7393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400C705F-0A68-AE17-5205-78906475B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6912CE37-5FDD-068D-E7CF-EB89190639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945AC8A-BD01-ABA2-B554-3AE4E6FD5C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6473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035E3ED3-DB46-B97F-DA2A-BA4A0F17E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8FE829AA-5319-08B7-4B38-D9601E83A7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A0E7935-FE27-A639-9529-B424C68482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029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9F6A638B-0007-2584-3199-2C6C08E1C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12403AA7-E084-07C4-602C-75361D9CD0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A8F072CD-5DCC-B5CF-892E-C1E508AEBC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06894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697894DD-5953-3614-3805-551C28DD8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352F843A-03FB-DD38-1600-5ABBF524C3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0504096-C179-17BD-BCD9-0D69DC2101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11871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744F5AB5-B444-D70B-4C5E-08684F21D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6C9943D1-F3C3-7D34-7989-AA3171F01E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30EE2E2F-C541-28BB-7426-25F978C564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3982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55EF2D8F-C059-BF8D-11C1-CEB7FE5C0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A5D6B2FC-2EF9-5D27-E3FA-37B4BB1D70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F404EB87-2962-813D-EB0B-BBFAECBB5C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83527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41ACD9E5-A15D-49A2-C48A-F9723DD9C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44ADB964-4008-C0FC-9240-03F857247F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4EFEE67-7A48-FA5A-9329-6C916E73F5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23856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D8A35D10-B4B5-E7EC-4E8A-A553B0C29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3EC6F924-7A8C-3FE6-89DA-E39509E3A9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30512A38-09C4-463F-FD23-275CC2AC11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40914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76AE74F1-6E32-CE5B-715D-3CE603F2E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9BFC2024-73CE-A498-84E5-C2D845C804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08685833-6B4B-BC5A-4872-9F0D9206F0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73733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1FA1DAC0-52EE-9868-274B-D27D932A9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E2A93CBB-B043-684C-3B35-E98B19C72F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5035CF7-6288-C394-2CA1-0D06CE1C1A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34333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32E36F3F-9771-68BB-F7FA-4A32ED56A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5A52A9E1-D98F-AD9F-222A-BC5CC54990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E237509A-602B-644E-34F4-CC02EE6525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76294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01775D59-BC02-D489-6F92-570B0C1EA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C8330C5C-A763-4039-439D-27E6B9E5D4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89FB7438-74F5-5D3F-DDED-BB48F69C3B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31071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DF91EC4D-F5C7-AE30-82C6-A55E39702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1177F623-9660-8DB6-ED72-D0401C20B4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1043B0BD-880E-7F79-93EE-5CA7CDD9BD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15687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64A6ADA-04F1-1762-D27B-81A0BC9D8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0682329F-0440-F031-515F-233355A497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>
            <a:extLst>
              <a:ext uri="{FF2B5EF4-FFF2-40B4-BE49-F238E27FC236}">
                <a16:creationId xmlns:a16="http://schemas.microsoft.com/office/drawing/2014/main" id="{3EBE59BA-FBA6-98F5-6D11-81930E27EE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5234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FEF3A07F-4157-65C9-680C-2E851130B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>
            <a:extLst>
              <a:ext uri="{FF2B5EF4-FFF2-40B4-BE49-F238E27FC236}">
                <a16:creationId xmlns:a16="http://schemas.microsoft.com/office/drawing/2014/main" id="{8AE033BA-42E3-2ED4-9912-97BF4D112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>
            <a:extLst>
              <a:ext uri="{FF2B5EF4-FFF2-40B4-BE49-F238E27FC236}">
                <a16:creationId xmlns:a16="http://schemas.microsoft.com/office/drawing/2014/main" id="{BCABCE20-D418-04B9-1150-0E2CC0F095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65174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>
          <a:extLst>
            <a:ext uri="{FF2B5EF4-FFF2-40B4-BE49-F238E27FC236}">
              <a16:creationId xmlns:a16="http://schemas.microsoft.com/office/drawing/2014/main" id="{3417716F-8BAB-18A9-A845-DFCC3F8AB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>
            <a:extLst>
              <a:ext uri="{FF2B5EF4-FFF2-40B4-BE49-F238E27FC236}">
                <a16:creationId xmlns:a16="http://schemas.microsoft.com/office/drawing/2014/main" id="{83E952FD-4172-5740-C5DF-61D4F4BB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3:notes">
            <a:extLst>
              <a:ext uri="{FF2B5EF4-FFF2-40B4-BE49-F238E27FC236}">
                <a16:creationId xmlns:a16="http://schemas.microsoft.com/office/drawing/2014/main" id="{F54D255C-28FB-4028-78ED-078269EE62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3593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ADC2DABB-43ED-2419-9B7F-144C3A7D2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>
            <a:extLst>
              <a:ext uri="{FF2B5EF4-FFF2-40B4-BE49-F238E27FC236}">
                <a16:creationId xmlns:a16="http://schemas.microsoft.com/office/drawing/2014/main" id="{DE4CA9B9-394D-1FE9-CBEC-964778FCF5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>
            <a:extLst>
              <a:ext uri="{FF2B5EF4-FFF2-40B4-BE49-F238E27FC236}">
                <a16:creationId xmlns:a16="http://schemas.microsoft.com/office/drawing/2014/main" id="{11ED0997-799E-FC5E-29B4-8610658D74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31431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9CB8510B-A46C-E1ED-C59C-502227BB6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>
            <a:extLst>
              <a:ext uri="{FF2B5EF4-FFF2-40B4-BE49-F238E27FC236}">
                <a16:creationId xmlns:a16="http://schemas.microsoft.com/office/drawing/2014/main" id="{AE52BABD-0E60-3A80-F3E9-066D213D8F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>
            <a:extLst>
              <a:ext uri="{FF2B5EF4-FFF2-40B4-BE49-F238E27FC236}">
                <a16:creationId xmlns:a16="http://schemas.microsoft.com/office/drawing/2014/main" id="{564979B4-F4BD-0FA5-8E35-24781414BE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06533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7C2A647C-42CF-88B4-E363-DB0A2AA2A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>
            <a:extLst>
              <a:ext uri="{FF2B5EF4-FFF2-40B4-BE49-F238E27FC236}">
                <a16:creationId xmlns:a16="http://schemas.microsoft.com/office/drawing/2014/main" id="{38FA9CAA-A4D0-7BA2-6794-3DFDB745B1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7148110D-BD36-2A7E-91F1-2BB49EB214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6931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79BB0B0-1299-C5A6-2165-1C4DC831F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85E0CA15-A860-9636-F85A-1EDA523438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A8F395FF-043F-5637-A49B-350AA26BAF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18275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1E7E59F7-FE8B-3EC9-37E7-9E5E3DB0B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>
            <a:extLst>
              <a:ext uri="{FF2B5EF4-FFF2-40B4-BE49-F238E27FC236}">
                <a16:creationId xmlns:a16="http://schemas.microsoft.com/office/drawing/2014/main" id="{1DEB9879-812B-54F4-6CA2-94D0B46A84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>
            <a:extLst>
              <a:ext uri="{FF2B5EF4-FFF2-40B4-BE49-F238E27FC236}">
                <a16:creationId xmlns:a16="http://schemas.microsoft.com/office/drawing/2014/main" id="{2D5C079D-DCB3-4C22-2468-A0835FEE35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26611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411032E3-24EA-8702-6D3B-F4982B303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>
            <a:extLst>
              <a:ext uri="{FF2B5EF4-FFF2-40B4-BE49-F238E27FC236}">
                <a16:creationId xmlns:a16="http://schemas.microsoft.com/office/drawing/2014/main" id="{274B9D43-5F6D-B62A-A49C-BC3E289612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>
            <a:extLst>
              <a:ext uri="{FF2B5EF4-FFF2-40B4-BE49-F238E27FC236}">
                <a16:creationId xmlns:a16="http://schemas.microsoft.com/office/drawing/2014/main" id="{72F4B982-7CCA-47D0-0187-976689515A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83572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7025AF4F-6BA9-E7C6-0392-61609E0A4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>
            <a:extLst>
              <a:ext uri="{FF2B5EF4-FFF2-40B4-BE49-F238E27FC236}">
                <a16:creationId xmlns:a16="http://schemas.microsoft.com/office/drawing/2014/main" id="{23390992-52EC-E4CC-4C67-22A5AAD2E2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:notes">
            <a:extLst>
              <a:ext uri="{FF2B5EF4-FFF2-40B4-BE49-F238E27FC236}">
                <a16:creationId xmlns:a16="http://schemas.microsoft.com/office/drawing/2014/main" id="{2C2215C4-D574-7199-9E31-DDF36F5439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17117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99DD08C9-35E0-5335-7677-A30303095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>
            <a:extLst>
              <a:ext uri="{FF2B5EF4-FFF2-40B4-BE49-F238E27FC236}">
                <a16:creationId xmlns:a16="http://schemas.microsoft.com/office/drawing/2014/main" id="{63B11B3F-31B1-BE4F-65BF-E9110813D1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:notes">
            <a:extLst>
              <a:ext uri="{FF2B5EF4-FFF2-40B4-BE49-F238E27FC236}">
                <a16:creationId xmlns:a16="http://schemas.microsoft.com/office/drawing/2014/main" id="{66B33177-1C39-9EC5-15B4-6021E908F2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59622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8DC47151-B017-7127-81C4-A8AF857FC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>
            <a:extLst>
              <a:ext uri="{FF2B5EF4-FFF2-40B4-BE49-F238E27FC236}">
                <a16:creationId xmlns:a16="http://schemas.microsoft.com/office/drawing/2014/main" id="{B2D405F2-E70C-2382-C3E0-56FCF0CB06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2:notes">
            <a:extLst>
              <a:ext uri="{FF2B5EF4-FFF2-40B4-BE49-F238E27FC236}">
                <a16:creationId xmlns:a16="http://schemas.microsoft.com/office/drawing/2014/main" id="{EA58AEBE-B5B0-CF4B-43F8-DAE0AC9598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125886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>
          <a:extLst>
            <a:ext uri="{FF2B5EF4-FFF2-40B4-BE49-F238E27FC236}">
              <a16:creationId xmlns:a16="http://schemas.microsoft.com/office/drawing/2014/main" id="{34D1DB88-63D1-97AE-3F05-2877CC231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:notes">
            <a:extLst>
              <a:ext uri="{FF2B5EF4-FFF2-40B4-BE49-F238E27FC236}">
                <a16:creationId xmlns:a16="http://schemas.microsoft.com/office/drawing/2014/main" id="{1694FFF0-1534-29D7-5070-F160EA59E0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4:notes">
            <a:extLst>
              <a:ext uri="{FF2B5EF4-FFF2-40B4-BE49-F238E27FC236}">
                <a16:creationId xmlns:a16="http://schemas.microsoft.com/office/drawing/2014/main" id="{3B983D4B-42EE-0A88-A956-D705A774D1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82752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F3F9956E-5363-400B-145C-AFA71C6B0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:notes">
            <a:extLst>
              <a:ext uri="{FF2B5EF4-FFF2-40B4-BE49-F238E27FC236}">
                <a16:creationId xmlns:a16="http://schemas.microsoft.com/office/drawing/2014/main" id="{5C2A3C56-6F5B-3D2F-E89E-132D472371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5:notes">
            <a:extLst>
              <a:ext uri="{FF2B5EF4-FFF2-40B4-BE49-F238E27FC236}">
                <a16:creationId xmlns:a16="http://schemas.microsoft.com/office/drawing/2014/main" id="{5D04C466-823C-7F92-1ED5-296453DCE6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54682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>
          <a:extLst>
            <a:ext uri="{FF2B5EF4-FFF2-40B4-BE49-F238E27FC236}">
              <a16:creationId xmlns:a16="http://schemas.microsoft.com/office/drawing/2014/main" id="{6BF493A1-154B-DC07-8273-E81CF7F3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>
            <a:extLst>
              <a:ext uri="{FF2B5EF4-FFF2-40B4-BE49-F238E27FC236}">
                <a16:creationId xmlns:a16="http://schemas.microsoft.com/office/drawing/2014/main" id="{F7914AEB-DEDF-BD66-6C43-5420629623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6:notes">
            <a:extLst>
              <a:ext uri="{FF2B5EF4-FFF2-40B4-BE49-F238E27FC236}">
                <a16:creationId xmlns:a16="http://schemas.microsoft.com/office/drawing/2014/main" id="{A7D57760-08D0-0FF0-CF55-C50A050A4A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16835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AAC2F65C-DF99-AE66-F931-8CCD95E2A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7:notes">
            <a:extLst>
              <a:ext uri="{FF2B5EF4-FFF2-40B4-BE49-F238E27FC236}">
                <a16:creationId xmlns:a16="http://schemas.microsoft.com/office/drawing/2014/main" id="{24E75C4D-4CA7-2E21-FAD8-C0AB0F0AF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7:notes">
            <a:extLst>
              <a:ext uri="{FF2B5EF4-FFF2-40B4-BE49-F238E27FC236}">
                <a16:creationId xmlns:a16="http://schemas.microsoft.com/office/drawing/2014/main" id="{E0377051-8BA9-44FF-7143-D8022EAF70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78830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>
          <a:extLst>
            <a:ext uri="{FF2B5EF4-FFF2-40B4-BE49-F238E27FC236}">
              <a16:creationId xmlns:a16="http://schemas.microsoft.com/office/drawing/2014/main" id="{6084458D-BC26-C0A0-D43A-BD319A53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8:notes">
            <a:extLst>
              <a:ext uri="{FF2B5EF4-FFF2-40B4-BE49-F238E27FC236}">
                <a16:creationId xmlns:a16="http://schemas.microsoft.com/office/drawing/2014/main" id="{90A7AA81-D516-4C3B-C04C-529D827C6F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8:notes">
            <a:extLst>
              <a:ext uri="{FF2B5EF4-FFF2-40B4-BE49-F238E27FC236}">
                <a16:creationId xmlns:a16="http://schemas.microsoft.com/office/drawing/2014/main" id="{8CEB9D29-FC17-8538-BDC4-CDAFCF6BDB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20534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3AD22556-3C3C-ADA5-3C39-4A817A851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9:notes">
            <a:extLst>
              <a:ext uri="{FF2B5EF4-FFF2-40B4-BE49-F238E27FC236}">
                <a16:creationId xmlns:a16="http://schemas.microsoft.com/office/drawing/2014/main" id="{B5BA00F6-8033-5A64-AF72-8DFD97751A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9:notes">
            <a:extLst>
              <a:ext uri="{FF2B5EF4-FFF2-40B4-BE49-F238E27FC236}">
                <a16:creationId xmlns:a16="http://schemas.microsoft.com/office/drawing/2014/main" id="{C59E0DC4-86FC-F005-49D1-8FF9DD2D91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11153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>
          <a:extLst>
            <a:ext uri="{FF2B5EF4-FFF2-40B4-BE49-F238E27FC236}">
              <a16:creationId xmlns:a16="http://schemas.microsoft.com/office/drawing/2014/main" id="{6F9BEF7D-322A-A2A6-DDD2-B39D12A7E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0:notes">
            <a:extLst>
              <a:ext uri="{FF2B5EF4-FFF2-40B4-BE49-F238E27FC236}">
                <a16:creationId xmlns:a16="http://schemas.microsoft.com/office/drawing/2014/main" id="{243D05E8-0E8F-EFEA-CA4A-781CF93AFF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0:notes">
            <a:extLst>
              <a:ext uri="{FF2B5EF4-FFF2-40B4-BE49-F238E27FC236}">
                <a16:creationId xmlns:a16="http://schemas.microsoft.com/office/drawing/2014/main" id="{7BDA1B39-3F73-DFDA-3BA1-064AD527FC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614073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>
          <a:extLst>
            <a:ext uri="{FF2B5EF4-FFF2-40B4-BE49-F238E27FC236}">
              <a16:creationId xmlns:a16="http://schemas.microsoft.com/office/drawing/2014/main" id="{A3EE9A88-2EF9-722C-A62B-DD8B74047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1:notes">
            <a:extLst>
              <a:ext uri="{FF2B5EF4-FFF2-40B4-BE49-F238E27FC236}">
                <a16:creationId xmlns:a16="http://schemas.microsoft.com/office/drawing/2014/main" id="{497CC5E4-E967-1810-5E6B-12B9508BEE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21:notes">
            <a:extLst>
              <a:ext uri="{FF2B5EF4-FFF2-40B4-BE49-F238E27FC236}">
                <a16:creationId xmlns:a16="http://schemas.microsoft.com/office/drawing/2014/main" id="{AA4DF2B7-5BFD-8413-D434-17BC4F3FBC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554653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>
          <a:extLst>
            <a:ext uri="{FF2B5EF4-FFF2-40B4-BE49-F238E27FC236}">
              <a16:creationId xmlns:a16="http://schemas.microsoft.com/office/drawing/2014/main" id="{5A556FC2-8634-8D8F-1A65-2C155E4C4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2:notes">
            <a:extLst>
              <a:ext uri="{FF2B5EF4-FFF2-40B4-BE49-F238E27FC236}">
                <a16:creationId xmlns:a16="http://schemas.microsoft.com/office/drawing/2014/main" id="{C152CB3A-CF16-A5EB-C69F-8EA21292CB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2:notes">
            <a:extLst>
              <a:ext uri="{FF2B5EF4-FFF2-40B4-BE49-F238E27FC236}">
                <a16:creationId xmlns:a16="http://schemas.microsoft.com/office/drawing/2014/main" id="{60B885CC-BDF0-0B8D-8636-1782A382FC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676886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>
          <a:extLst>
            <a:ext uri="{FF2B5EF4-FFF2-40B4-BE49-F238E27FC236}">
              <a16:creationId xmlns:a16="http://schemas.microsoft.com/office/drawing/2014/main" id="{A610D11B-88F2-2F04-EA98-0A5F0858B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3:notes">
            <a:extLst>
              <a:ext uri="{FF2B5EF4-FFF2-40B4-BE49-F238E27FC236}">
                <a16:creationId xmlns:a16="http://schemas.microsoft.com/office/drawing/2014/main" id="{D6A1283D-9449-B735-1D3C-D89297492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3:notes">
            <a:extLst>
              <a:ext uri="{FF2B5EF4-FFF2-40B4-BE49-F238E27FC236}">
                <a16:creationId xmlns:a16="http://schemas.microsoft.com/office/drawing/2014/main" id="{CFF7B488-4D52-6B74-2ADD-C691167AEB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47130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>
          <a:extLst>
            <a:ext uri="{FF2B5EF4-FFF2-40B4-BE49-F238E27FC236}">
              <a16:creationId xmlns:a16="http://schemas.microsoft.com/office/drawing/2014/main" id="{554EE158-4EAA-2103-D78D-32847436E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4:notes">
            <a:extLst>
              <a:ext uri="{FF2B5EF4-FFF2-40B4-BE49-F238E27FC236}">
                <a16:creationId xmlns:a16="http://schemas.microsoft.com/office/drawing/2014/main" id="{24CF31F1-B320-F999-2D13-C59D737A68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4:notes">
            <a:extLst>
              <a:ext uri="{FF2B5EF4-FFF2-40B4-BE49-F238E27FC236}">
                <a16:creationId xmlns:a16="http://schemas.microsoft.com/office/drawing/2014/main" id="{9D015847-C551-70B7-FEDC-16331212BD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538283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>
          <a:extLst>
            <a:ext uri="{FF2B5EF4-FFF2-40B4-BE49-F238E27FC236}">
              <a16:creationId xmlns:a16="http://schemas.microsoft.com/office/drawing/2014/main" id="{09C67ED0-C385-EB33-B8D8-3325D62BF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5:notes">
            <a:extLst>
              <a:ext uri="{FF2B5EF4-FFF2-40B4-BE49-F238E27FC236}">
                <a16:creationId xmlns:a16="http://schemas.microsoft.com/office/drawing/2014/main" id="{06DCD530-415F-5C4B-AAEA-1FB8AB7E6B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5:notes">
            <a:extLst>
              <a:ext uri="{FF2B5EF4-FFF2-40B4-BE49-F238E27FC236}">
                <a16:creationId xmlns:a16="http://schemas.microsoft.com/office/drawing/2014/main" id="{784979FF-F1F6-E220-1395-A46C9741B4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394723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>
          <a:extLst>
            <a:ext uri="{FF2B5EF4-FFF2-40B4-BE49-F238E27FC236}">
              <a16:creationId xmlns:a16="http://schemas.microsoft.com/office/drawing/2014/main" id="{5F31E7CA-4B60-2AA7-8057-62B5C3B9C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6:notes">
            <a:extLst>
              <a:ext uri="{FF2B5EF4-FFF2-40B4-BE49-F238E27FC236}">
                <a16:creationId xmlns:a16="http://schemas.microsoft.com/office/drawing/2014/main" id="{CF2E8A80-03E0-E26A-E1B3-17D72480C2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26:notes">
            <a:extLst>
              <a:ext uri="{FF2B5EF4-FFF2-40B4-BE49-F238E27FC236}">
                <a16:creationId xmlns:a16="http://schemas.microsoft.com/office/drawing/2014/main" id="{A091593C-5E2C-C999-4969-54F338271A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7187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295275" y="1990725"/>
            <a:ext cx="1160145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Optimal Microservices Granularity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705225"/>
            <a:ext cx="110490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Assignment 3: Balancing Business Alignment and Technical Optimization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581525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9BA946-6A0E-0380-6BDA-ADEE88CE0B46}"/>
              </a:ext>
            </a:extLst>
          </p:cNvPr>
          <p:cNvSpPr txBox="1"/>
          <p:nvPr/>
        </p:nvSpPr>
        <p:spPr>
          <a:xfrm>
            <a:off x="1192192" y="4352081"/>
            <a:ext cx="61924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Basant Awad 	22101405</a:t>
            </a:r>
          </a:p>
          <a:p>
            <a:r>
              <a:rPr lang="en-US" dirty="0"/>
              <a:t>Nadira Mohamed 	22101377</a:t>
            </a:r>
          </a:p>
          <a:p>
            <a:r>
              <a:rPr lang="en-US" dirty="0"/>
              <a:t>Merna Adel 	22101164</a:t>
            </a:r>
          </a:p>
          <a:p>
            <a:r>
              <a:rPr lang="en-US" dirty="0"/>
              <a:t>Ahmed Adel 	22101163</a:t>
            </a:r>
          </a:p>
          <a:p>
            <a:r>
              <a:rPr lang="en-US" dirty="0"/>
              <a:t>Mohamed </a:t>
            </a:r>
            <a:r>
              <a:rPr lang="en-US" dirty="0" err="1"/>
              <a:t>Alsariti</a:t>
            </a:r>
            <a:r>
              <a:rPr lang="en-US" dirty="0"/>
              <a:t>	22101901</a:t>
            </a:r>
          </a:p>
          <a:p>
            <a:r>
              <a:rPr lang="en-US" dirty="0"/>
              <a:t>Ahmed Yahia	21100913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914A3029-42D6-31A3-D9E1-C616F4EEB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AC8C40C8-1713-40BB-81C2-75934C46865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ACC56272-A631-6666-2CF7-FE57D3A3D2E1}"/>
              </a:ext>
            </a:extLst>
          </p:cNvPr>
          <p:cNvSpPr txBox="1"/>
          <p:nvPr/>
        </p:nvSpPr>
        <p:spPr>
          <a:xfrm>
            <a:off x="571501" y="2014537"/>
            <a:ext cx="432816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dirty="0"/>
              <a:t>Architecture style where applications are divided into small independent services.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C1CB5DE4-3C99-5992-5A4B-188BE03DC17D}"/>
              </a:ext>
            </a:extLst>
          </p:cNvPr>
          <p:cNvSpPr txBox="1"/>
          <p:nvPr/>
        </p:nvSpPr>
        <p:spPr>
          <a:xfrm>
            <a:off x="609600" y="2972277"/>
            <a:ext cx="524827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6" indent="-285750">
              <a:buFont typeface="Arial" panose="020B0604020202020204" pitchFamily="34" charset="0"/>
              <a:buChar char="•"/>
            </a:pPr>
            <a:r>
              <a:rPr lang="en-US" sz="1600" dirty="0"/>
              <a:t>Each service has:</a:t>
            </a:r>
          </a:p>
          <a:p>
            <a:pPr marL="285750" lvl="8" indent="-285750">
              <a:buFont typeface="Wingdings" panose="05000000000000000000" pitchFamily="2" charset="2"/>
              <a:buChar char="Ø"/>
            </a:pPr>
            <a:r>
              <a:rPr lang="en-US" dirty="0"/>
              <a:t>own logic </a:t>
            </a:r>
          </a:p>
          <a:p>
            <a:pPr marL="285750" lvl="8" indent="-285750">
              <a:buFont typeface="Wingdings" panose="05000000000000000000" pitchFamily="2" charset="2"/>
              <a:buChar char="Ø"/>
            </a:pPr>
            <a:r>
              <a:rPr lang="en-US" dirty="0"/>
              <a:t>own deployment </a:t>
            </a:r>
          </a:p>
          <a:p>
            <a:pPr marL="285750" lvl="8" indent="-285750">
              <a:buFont typeface="Wingdings" panose="05000000000000000000" pitchFamily="2" charset="2"/>
              <a:buChar char="Ø"/>
            </a:pPr>
            <a:r>
              <a:rPr lang="en-US" dirty="0"/>
              <a:t>communication 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3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2440E189-ED4F-6BC8-6F34-39BB883610E8}"/>
              </a:ext>
            </a:extLst>
          </p:cNvPr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F0C7959C-97C5-AAE2-81AF-127E2250BFE5}"/>
              </a:ext>
            </a:extLst>
          </p:cNvPr>
          <p:cNvSpPr txBox="1"/>
          <p:nvPr/>
        </p:nvSpPr>
        <p:spPr>
          <a:xfrm>
            <a:off x="609600" y="935503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4400" dirty="0"/>
              <a:t>What are Microservices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027" name="Picture 3" descr="Navigating Software Reusability in the World of Microservices and APIs | by Shujaa Marwat | Medium">
            <a:extLst>
              <a:ext uri="{FF2B5EF4-FFF2-40B4-BE49-F238E27FC236}">
                <a16:creationId xmlns:a16="http://schemas.microsoft.com/office/drawing/2014/main" id="{001DC9DB-AFD9-B107-574C-92A40AFF1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9671" y="1612611"/>
            <a:ext cx="6887160" cy="4786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9015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BABFEAEF-270F-7947-ED1D-0916D65A0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0BBAACAE-A83C-F236-9131-D838FED79CB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1927C99A-A252-F3B3-E371-1559286A6D6F}"/>
              </a:ext>
            </a:extLst>
          </p:cNvPr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3EC7761E-A895-FEB9-64C0-B766FBCCDF41}"/>
              </a:ext>
            </a:extLst>
          </p:cNvPr>
          <p:cNvSpPr txBox="1"/>
          <p:nvPr/>
        </p:nvSpPr>
        <p:spPr>
          <a:xfrm>
            <a:off x="609600" y="935503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4400" dirty="0"/>
              <a:t>What is Granularity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5EA8FE-AD0B-7A0E-02BE-AC7F45A21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317661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85B61C-D809-478E-4445-EE45E8C4D91F}"/>
              </a:ext>
            </a:extLst>
          </p:cNvPr>
          <p:cNvSpPr txBox="1"/>
          <p:nvPr/>
        </p:nvSpPr>
        <p:spPr>
          <a:xfrm>
            <a:off x="549754" y="2010244"/>
            <a:ext cx="459251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Granularity = size and scope of each microservice.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Fine-grained: </a:t>
            </a:r>
          </a:p>
          <a:p>
            <a:pPr lvl="5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small services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Coarse-grained: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fewer larger services</a:t>
            </a:r>
          </a:p>
        </p:txBody>
      </p:sp>
      <p:pic>
        <p:nvPicPr>
          <p:cNvPr id="2052" name="Picture 4" descr="Miniservices as a Realistic Alternative to Microservices">
            <a:extLst>
              <a:ext uri="{FF2B5EF4-FFF2-40B4-BE49-F238E27FC236}">
                <a16:creationId xmlns:a16="http://schemas.microsoft.com/office/drawing/2014/main" id="{1D7B7405-0E0F-3934-7E0D-D0742CEB0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342" y="1612611"/>
            <a:ext cx="7334866" cy="4734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1544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8C33B874-721C-B9EB-E973-9A3F728BF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C7012169-AFC8-036A-7EC1-5438DA8694E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F9167622-AB80-76AD-B232-F007FDBB74C0}"/>
              </a:ext>
            </a:extLst>
          </p:cNvPr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8007B2CD-DD31-DC20-C507-B25919B2EC48}"/>
              </a:ext>
            </a:extLst>
          </p:cNvPr>
          <p:cNvSpPr txBox="1"/>
          <p:nvPr/>
        </p:nvSpPr>
        <p:spPr>
          <a:xfrm>
            <a:off x="609600" y="935503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4400" dirty="0"/>
              <a:t>Granularity Problem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24562C-4B2D-B766-686A-62A001BEE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317661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F18F58-DEDD-98FF-3981-16648908F046}"/>
              </a:ext>
            </a:extLst>
          </p:cNvPr>
          <p:cNvSpPr txBox="1"/>
          <p:nvPr/>
        </p:nvSpPr>
        <p:spPr>
          <a:xfrm>
            <a:off x="549754" y="2010244"/>
            <a:ext cx="45925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Too Small Services</a:t>
            </a:r>
          </a:p>
          <a:p>
            <a:r>
              <a:rPr lang="en-US" sz="1800" dirty="0"/>
              <a:t>communication overhead </a:t>
            </a:r>
          </a:p>
          <a:p>
            <a:r>
              <a:rPr lang="en-US" sz="1800" dirty="0"/>
              <a:t>complex monitoring </a:t>
            </a:r>
          </a:p>
          <a:p>
            <a:r>
              <a:rPr lang="en-US" sz="1800" b="1" dirty="0"/>
              <a:t>Too Large Services</a:t>
            </a:r>
          </a:p>
          <a:p>
            <a:r>
              <a:rPr lang="en-US" sz="1800" dirty="0"/>
              <a:t>reduced scalability </a:t>
            </a:r>
          </a:p>
          <a:p>
            <a:r>
              <a:rPr lang="en-US" sz="1800" dirty="0"/>
              <a:t>harder maintenance</a:t>
            </a:r>
          </a:p>
        </p:txBody>
      </p:sp>
      <p:pic>
        <p:nvPicPr>
          <p:cNvPr id="4098" name="Picture 2" descr="Book review: Learning Domain-Driven Design by Vlad Khononov | by Toni Soueid | Medium">
            <a:extLst>
              <a:ext uri="{FF2B5EF4-FFF2-40B4-BE49-F238E27FC236}">
                <a16:creationId xmlns:a16="http://schemas.microsoft.com/office/drawing/2014/main" id="{793869F2-7976-B155-E96B-0F3FB6C28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6333" y="1933575"/>
            <a:ext cx="6115050" cy="492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1461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44">
          <a:extLst>
            <a:ext uri="{FF2B5EF4-FFF2-40B4-BE49-F238E27FC236}">
              <a16:creationId xmlns:a16="http://schemas.microsoft.com/office/drawing/2014/main" id="{6703965C-68DC-4204-A7AF-A223A70C2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icroservice Architecture and Design Patterns for Microservices | by madhuka udantha | Medium">
            <a:extLst>
              <a:ext uri="{FF2B5EF4-FFF2-40B4-BE49-F238E27FC236}">
                <a16:creationId xmlns:a16="http://schemas.microsoft.com/office/drawing/2014/main" id="{795F929F-CFC5-7004-DD71-1784766CF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129" y="299205"/>
            <a:ext cx="6456260" cy="643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988AA8-15E8-C68B-DC04-FEB3546B8EC3}"/>
              </a:ext>
            </a:extLst>
          </p:cNvPr>
          <p:cNvSpPr txBox="1"/>
          <p:nvPr/>
        </p:nvSpPr>
        <p:spPr>
          <a:xfrm>
            <a:off x="243840" y="97895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latin typeface="+mj-lt"/>
              </a:rPr>
              <a:t>Design Patterns for Microservices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C82D3E-6D22-FDE3-4668-D1A573E8D342}"/>
              </a:ext>
            </a:extLst>
          </p:cNvPr>
          <p:cNvSpPr txBox="1"/>
          <p:nvPr/>
        </p:nvSpPr>
        <p:spPr>
          <a:xfrm>
            <a:off x="413611" y="1649383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b="1" dirty="0">
                <a:solidFill>
                  <a:schemeClr val="bg2"/>
                </a:solidFill>
              </a:rPr>
              <a:t>5 Key Categories:</a:t>
            </a:r>
            <a:endParaRPr lang="en-GB" sz="1800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Decomposition</a:t>
            </a:r>
            <a:r>
              <a:rPr lang="en-GB" sz="1600" dirty="0"/>
              <a:t> – Split services by business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Integration</a:t>
            </a:r>
            <a:r>
              <a:rPr lang="en-GB" sz="1600" dirty="0"/>
              <a:t> – Connect services via API Gateway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Database</a:t>
            </a:r>
            <a:r>
              <a:rPr lang="en-GB" sz="1600" dirty="0"/>
              <a:t> – Separate data per service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Observability</a:t>
            </a:r>
            <a:r>
              <a:rPr lang="en-GB" sz="1600" dirty="0"/>
              <a:t> – Monitor, trace &amp; log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Cross-Cutting</a:t>
            </a:r>
            <a:r>
              <a:rPr lang="en-GB" sz="1600" dirty="0"/>
              <a:t> – Circuit Breaker, Service Discovery</a:t>
            </a:r>
          </a:p>
        </p:txBody>
      </p:sp>
    </p:spTree>
    <p:extLst>
      <p:ext uri="{BB962C8B-B14F-4D97-AF65-F5344CB8AC3E}">
        <p14:creationId xmlns:p14="http://schemas.microsoft.com/office/powerpoint/2010/main" val="4168648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C2BEEF61-E8AB-B9AF-E69B-17F781E52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F7CBF700-0372-873E-5877-858B47F2293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2A76CB16-64DE-CAFD-B545-85778E75C310}"/>
              </a:ext>
            </a:extLst>
          </p:cNvPr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D6E74FE5-3360-2A03-49B7-AC6DAFF6C6EF}"/>
              </a:ext>
            </a:extLst>
          </p:cNvPr>
          <p:cNvSpPr txBox="1"/>
          <p:nvPr/>
        </p:nvSpPr>
        <p:spPr>
          <a:xfrm>
            <a:off x="2723535" y="2833129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4400" dirty="0"/>
              <a:t>Decomposition Approaches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F66130-016A-A712-E55E-B13869E14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317661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212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60BA0257-90CB-7D28-80AB-E02654825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EE970280-18DC-58C7-C231-579362E622F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14ACEAE3-405B-3B05-F528-CFCD0CC2A8A8}"/>
              </a:ext>
            </a:extLst>
          </p:cNvPr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68B776F9-8E08-C880-F104-DF2A9000631D}"/>
              </a:ext>
            </a:extLst>
          </p:cNvPr>
          <p:cNvSpPr txBox="1"/>
          <p:nvPr/>
        </p:nvSpPr>
        <p:spPr>
          <a:xfrm>
            <a:off x="609600" y="935503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4400" dirty="0"/>
              <a:t>Domain-Driven Design (DDD)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250314-98FB-F935-3E3B-748F9F5DA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317661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3C627DD-EB35-36E1-6F5A-54967D22A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14342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Services are divided based on business domains.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bounded contexts. </a:t>
            </a:r>
          </a:p>
        </p:txBody>
      </p:sp>
      <p:pic>
        <p:nvPicPr>
          <p:cNvPr id="5124" name="Picture 4" descr="Microservices Hexagonal Architecture.  The Aggregate. | Javarevisited">
            <a:extLst>
              <a:ext uri="{FF2B5EF4-FFF2-40B4-BE49-F238E27FC236}">
                <a16:creationId xmlns:a16="http://schemas.microsoft.com/office/drawing/2014/main" id="{EF7DADA0-0F41-9729-9E85-A3D6F6ACE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29" y="2699242"/>
            <a:ext cx="10793093" cy="4158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BA12F5-2B45-627E-F411-22FE5668C53E}"/>
              </a:ext>
            </a:extLst>
          </p:cNvPr>
          <p:cNvSpPr txBox="1"/>
          <p:nvPr/>
        </p:nvSpPr>
        <p:spPr>
          <a:xfrm>
            <a:off x="6548120" y="1745135"/>
            <a:ext cx="61061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E-commerce 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Order Service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Payment Service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Shipping Service</a:t>
            </a:r>
          </a:p>
        </p:txBody>
      </p:sp>
    </p:spTree>
    <p:extLst>
      <p:ext uri="{BB962C8B-B14F-4D97-AF65-F5344CB8AC3E}">
        <p14:creationId xmlns:p14="http://schemas.microsoft.com/office/powerpoint/2010/main" val="3322389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9EB72232-28DC-0583-CADA-A88FCD755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C6C21D33-00F2-ACBD-469C-661471ECA49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5AFB9426-AC38-B5F6-7DCC-8299F2D4FD16}"/>
              </a:ext>
            </a:extLst>
          </p:cNvPr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C8738388-1D37-A0D2-A7D9-947B2EC6E693}"/>
              </a:ext>
            </a:extLst>
          </p:cNvPr>
          <p:cNvSpPr txBox="1"/>
          <p:nvPr/>
        </p:nvSpPr>
        <p:spPr>
          <a:xfrm>
            <a:off x="609600" y="935503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4400" dirty="0"/>
              <a:t>Business Capability Decomposition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696362-CD7E-17ED-EF72-4D84ADBF9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317661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ED2B45D-B70B-4095-4058-70D7C8E74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686559"/>
            <a:ext cx="453201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800" dirty="0"/>
              <a:t>Split services by business functions. </a:t>
            </a:r>
          </a:p>
          <a:p>
            <a:r>
              <a:rPr lang="en-US" sz="1800" dirty="0"/>
              <a:t>Independent teams can manage services. </a:t>
            </a:r>
          </a:p>
          <a:p>
            <a:r>
              <a:rPr lang="en-US" sz="1800" b="1" dirty="0"/>
              <a:t>Example</a:t>
            </a:r>
          </a:p>
          <a:p>
            <a:r>
              <a:rPr lang="en-US" sz="1800" dirty="0"/>
              <a:t>Inventory </a:t>
            </a:r>
          </a:p>
          <a:p>
            <a:r>
              <a:rPr lang="en-US" sz="1800" dirty="0"/>
              <a:t>Customer Management </a:t>
            </a:r>
          </a:p>
          <a:p>
            <a:r>
              <a:rPr lang="en-US" sz="1800" dirty="0"/>
              <a:t>Billing</a:t>
            </a:r>
          </a:p>
        </p:txBody>
      </p:sp>
    </p:spTree>
    <p:extLst>
      <p:ext uri="{BB962C8B-B14F-4D97-AF65-F5344CB8AC3E}">
        <p14:creationId xmlns:p14="http://schemas.microsoft.com/office/powerpoint/2010/main" val="3784035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86B045D3-DF57-67E1-0051-33365783E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8DE19ECC-C992-C482-DDE2-090038236D9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FEC06271-7AF3-0EEB-CE99-266CE72CCDC5}"/>
              </a:ext>
            </a:extLst>
          </p:cNvPr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62183513-3EB3-A43B-00D4-F4E1B68C3DAA}"/>
              </a:ext>
            </a:extLst>
          </p:cNvPr>
          <p:cNvSpPr txBox="1"/>
          <p:nvPr/>
        </p:nvSpPr>
        <p:spPr>
          <a:xfrm>
            <a:off x="609600" y="935503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4400" dirty="0"/>
              <a:t>Functional Decomposition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F1B74B-4B0D-1E9D-2E61-08EB92584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317661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4888E45-64B1-5964-224B-996859DD1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102057"/>
            <a:ext cx="455765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Services separated by technical functions. </a:t>
            </a:r>
          </a:p>
          <a:p>
            <a:r>
              <a:rPr lang="en-US" sz="1800" dirty="0"/>
              <a:t>Easier initial implementation. </a:t>
            </a:r>
          </a:p>
          <a:p>
            <a:r>
              <a:rPr lang="en-US" sz="1800" b="1" dirty="0"/>
              <a:t>Cons</a:t>
            </a:r>
          </a:p>
          <a:p>
            <a:r>
              <a:rPr lang="en-US" sz="1800" dirty="0"/>
              <a:t>strong coupling risk</a:t>
            </a:r>
          </a:p>
        </p:txBody>
      </p:sp>
    </p:spTree>
    <p:extLst>
      <p:ext uri="{BB962C8B-B14F-4D97-AF65-F5344CB8AC3E}">
        <p14:creationId xmlns:p14="http://schemas.microsoft.com/office/powerpoint/2010/main" val="499889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A0F1BE1C-7D3B-C9A8-BE0E-739483A05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BC6566CD-40B1-C38C-8BB8-F1B1D910E18D}"/>
              </a:ext>
            </a:extLst>
          </p:cNvPr>
          <p:cNvSpPr txBox="1"/>
          <p:nvPr/>
        </p:nvSpPr>
        <p:spPr>
          <a:xfrm>
            <a:off x="323087" y="949092"/>
            <a:ext cx="10909640" cy="106583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Comparison Between Approaches</a:t>
            </a:r>
          </a:p>
        </p:txBody>
      </p:sp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8330FE41-4679-A4BF-D5D7-E39BA63EDB05}"/>
              </a:ext>
            </a:extLst>
          </p:cNvPr>
          <p:cNvPicPr preferRelativeResize="0"/>
          <p:nvPr/>
        </p:nvPicPr>
        <p:blipFill rotWithShape="1">
          <a:blip r:embed="rId4"/>
          <a:stretch/>
        </p:blipFill>
        <p:spPr>
          <a:xfrm>
            <a:off x="730113" y="320040"/>
            <a:ext cx="4794269" cy="3895344"/>
          </a:xfrm>
          <a:prstGeom prst="rect">
            <a:avLst/>
          </a:prstGeom>
          <a:noFill/>
        </p:spPr>
      </p:pic>
      <p:sp>
        <p:nvSpPr>
          <p:cNvPr id="109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37E23D-E282-4C02-AA4C-A5A753078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279189"/>
            <a:ext cx="184731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0D9121-7229-1E00-45C9-820DFEFD0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021481"/>
              </p:ext>
            </p:extLst>
          </p:nvPr>
        </p:nvGraphicFramePr>
        <p:xfrm>
          <a:off x="1201357" y="2111884"/>
          <a:ext cx="5614417" cy="2324580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65000"/>
                    <a:lumOff val="35000"/>
                  </a:schemeClr>
                </a:solidFill>
              </a:tblPr>
              <a:tblGrid>
                <a:gridCol w="1510314">
                  <a:extLst>
                    <a:ext uri="{9D8B030D-6E8A-4147-A177-3AD203B41FA5}">
                      <a16:colId xmlns:a16="http://schemas.microsoft.com/office/drawing/2014/main" val="2222860619"/>
                    </a:ext>
                  </a:extLst>
                </a:gridCol>
                <a:gridCol w="2100249">
                  <a:extLst>
                    <a:ext uri="{9D8B030D-6E8A-4147-A177-3AD203B41FA5}">
                      <a16:colId xmlns:a16="http://schemas.microsoft.com/office/drawing/2014/main" val="4211633070"/>
                    </a:ext>
                  </a:extLst>
                </a:gridCol>
                <a:gridCol w="2003854">
                  <a:extLst>
                    <a:ext uri="{9D8B030D-6E8A-4147-A177-3AD203B41FA5}">
                      <a16:colId xmlns:a16="http://schemas.microsoft.com/office/drawing/2014/main" val="343824735"/>
                    </a:ext>
                  </a:extLst>
                </a:gridCol>
              </a:tblGrid>
              <a:tr h="507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 dirty="0">
                          <a:solidFill>
                            <a:schemeClr val="bg1"/>
                          </a:solidFill>
                        </a:rPr>
                        <a:t>Approach</a:t>
                      </a:r>
                    </a:p>
                  </a:txBody>
                  <a:tcPr marL="111047" marR="111047" marT="55523" marB="1110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bg1"/>
                          </a:solidFill>
                        </a:rPr>
                        <a:t>Advantages</a:t>
                      </a:r>
                    </a:p>
                  </a:txBody>
                  <a:tcPr marL="111047" marR="111047" marT="55523" marB="1110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bg1"/>
                          </a:solidFill>
                        </a:rPr>
                        <a:t>Disadvantages</a:t>
                      </a:r>
                    </a:p>
                  </a:txBody>
                  <a:tcPr marL="111047" marR="111047" marT="55523" marB="1110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517555"/>
                  </a:ext>
                </a:extLst>
              </a:tr>
              <a:tr h="507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bg1"/>
                          </a:solidFill>
                        </a:rPr>
                        <a:t>DDD</a:t>
                      </a:r>
                    </a:p>
                  </a:txBody>
                  <a:tcPr marL="111047" marR="111047" marT="55523" marB="1110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bg1"/>
                          </a:solidFill>
                        </a:rPr>
                        <a:t>scalable</a:t>
                      </a:r>
                    </a:p>
                  </a:txBody>
                  <a:tcPr marL="111047" marR="111047" marT="55523" marB="1110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bg1"/>
                          </a:solidFill>
                        </a:rPr>
                        <a:t>complex</a:t>
                      </a:r>
                    </a:p>
                  </a:txBody>
                  <a:tcPr marL="111047" marR="111047" marT="55523" marB="1110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394030"/>
                  </a:ext>
                </a:extLst>
              </a:tr>
              <a:tr h="507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bg1"/>
                          </a:solidFill>
                        </a:rPr>
                        <a:t>Functional</a:t>
                      </a:r>
                    </a:p>
                  </a:txBody>
                  <a:tcPr marL="111047" marR="111047" marT="55523" marB="1110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bg1"/>
                          </a:solidFill>
                        </a:rPr>
                        <a:t>simple</a:t>
                      </a:r>
                    </a:p>
                  </a:txBody>
                  <a:tcPr marL="111047" marR="111047" marT="55523" marB="1110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bg1"/>
                          </a:solidFill>
                        </a:rPr>
                        <a:t>coupling</a:t>
                      </a:r>
                    </a:p>
                  </a:txBody>
                  <a:tcPr marL="111047" marR="111047" marT="55523" marB="1110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608378"/>
                  </a:ext>
                </a:extLst>
              </a:tr>
              <a:tr h="803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bg1"/>
                          </a:solidFill>
                        </a:rPr>
                        <a:t>Business</a:t>
                      </a:r>
                    </a:p>
                  </a:txBody>
                  <a:tcPr marL="111047" marR="111047" marT="55523" marB="1110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>
                          <a:solidFill>
                            <a:schemeClr val="bg1"/>
                          </a:solidFill>
                        </a:rPr>
                        <a:t>aligned with org</a:t>
                      </a:r>
                    </a:p>
                  </a:txBody>
                  <a:tcPr marL="111047" marR="111047" marT="55523" marB="1110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cap="none" spc="0" dirty="0">
                          <a:solidFill>
                            <a:schemeClr val="bg1"/>
                          </a:solidFill>
                        </a:rPr>
                        <a:t>harder integration</a:t>
                      </a:r>
                    </a:p>
                  </a:txBody>
                  <a:tcPr marL="111047" marR="111047" marT="55523" marB="11104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38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1913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2E8A6103-2D19-CB01-49CF-C4C2A6DC9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3A0EF3C2-073E-D50A-48FB-80FE0DCAD39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5F03A7BE-0650-E208-D452-32933DAC022B}"/>
              </a:ext>
            </a:extLst>
          </p:cNvPr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788F7C63-0F2A-5014-A213-446F781B4613}"/>
              </a:ext>
            </a:extLst>
          </p:cNvPr>
          <p:cNvSpPr txBox="1"/>
          <p:nvPr/>
        </p:nvSpPr>
        <p:spPr>
          <a:xfrm>
            <a:off x="609600" y="935503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4400" dirty="0"/>
              <a:t>Data-Driven Decomposition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41E4A6-ACF3-414F-AD05-3843EE773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317661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37DAA6-D2CE-3B1D-38A6-EB09C2C40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0421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Services designed around data ownership.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service controls its own database.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4DC308-055D-4B32-FDC2-9C85C8526FCD}"/>
              </a:ext>
            </a:extLst>
          </p:cNvPr>
          <p:cNvSpPr txBox="1"/>
          <p:nvPr/>
        </p:nvSpPr>
        <p:spPr>
          <a:xfrm>
            <a:off x="878840" y="2718245"/>
            <a:ext cx="6106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Separate DBs per service.</a:t>
            </a:r>
          </a:p>
        </p:txBody>
      </p:sp>
      <p:pic>
        <p:nvPicPr>
          <p:cNvPr id="7171" name="Picture 3" descr="Microservices Database Management Patterns and Principles | by Mehmet Ozkaya | Design Microservices Architecture with Patterns &amp; Principles | Medium">
            <a:extLst>
              <a:ext uri="{FF2B5EF4-FFF2-40B4-BE49-F238E27FC236}">
                <a16:creationId xmlns:a16="http://schemas.microsoft.com/office/drawing/2014/main" id="{56F46998-E884-DA2E-2434-671620C00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1220" y="1524002"/>
            <a:ext cx="5105400" cy="533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3" name="Picture 5" descr="The Database-per-Service Pattern. In this article, we are going to talk… | by Mehmet Ozkaya | Design Microservices Architecture with Patterns &amp; Principles | Medium">
            <a:extLst>
              <a:ext uri="{FF2B5EF4-FFF2-40B4-BE49-F238E27FC236}">
                <a16:creationId xmlns:a16="http://schemas.microsoft.com/office/drawing/2014/main" id="{031036A0-8F48-CADC-C851-925B2B75D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037" y="3139445"/>
            <a:ext cx="6440362" cy="3718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4009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9E2425C1-A00E-5F24-9E8E-D4A18A0D4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BCAB9606-99FB-3C8C-5AB7-797821CB8DF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E4A715E5-D01C-1F2B-72E4-B47904C28EE9}"/>
              </a:ext>
            </a:extLst>
          </p:cNvPr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2A52844C-5A73-EFBE-3F4A-E369991B8C57}"/>
              </a:ext>
            </a:extLst>
          </p:cNvPr>
          <p:cNvSpPr txBox="1"/>
          <p:nvPr/>
        </p:nvSpPr>
        <p:spPr>
          <a:xfrm>
            <a:off x="609600" y="935503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4400" dirty="0"/>
              <a:t>Event-Driven Decomposition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3A446A-9BD0-9BED-6BF7-80276226E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317661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583F9C-83E2-132E-6FA5-ABEF8DFED514}"/>
              </a:ext>
            </a:extLst>
          </p:cNvPr>
          <p:cNvSpPr txBox="1"/>
          <p:nvPr/>
        </p:nvSpPr>
        <p:spPr>
          <a:xfrm>
            <a:off x="571500" y="1571599"/>
            <a:ext cx="61061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Services communicate using events. </a:t>
            </a:r>
          </a:p>
          <a:p>
            <a:r>
              <a:rPr lang="en-US" dirty="0"/>
              <a:t>Asynchronous communication. 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Order Created → Payment Processed → Notification Sent</a:t>
            </a:r>
          </a:p>
          <a:p>
            <a:r>
              <a:rPr lang="en-US" b="1" dirty="0"/>
              <a:t>Diagram</a:t>
            </a:r>
          </a:p>
          <a:p>
            <a:r>
              <a:rPr lang="en-US" dirty="0"/>
              <a:t>Event bus architecture.</a:t>
            </a:r>
          </a:p>
        </p:txBody>
      </p:sp>
      <p:pic>
        <p:nvPicPr>
          <p:cNvPr id="8194" name="Picture 2" descr="A Pragmatic Journey from Monolith to Microservices | by Mehmet Ozkaya | Medium">
            <a:extLst>
              <a:ext uri="{FF2B5EF4-FFF2-40B4-BE49-F238E27FC236}">
                <a16:creationId xmlns:a16="http://schemas.microsoft.com/office/drawing/2014/main" id="{15D481F7-E5F0-49BF-2452-FEE50C2EE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505" y="2428240"/>
            <a:ext cx="8207375" cy="4019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598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AA2BE18D-6014-BA77-8776-678C44E21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F6F4B3A9-740F-5656-2F89-3903C44DEF5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60B0A5EB-0F28-0857-05DF-07B42381CA25}"/>
              </a:ext>
            </a:extLst>
          </p:cNvPr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A9AFC404-FAB8-41BD-42BD-277F81A99298}"/>
              </a:ext>
            </a:extLst>
          </p:cNvPr>
          <p:cNvSpPr txBox="1"/>
          <p:nvPr/>
        </p:nvSpPr>
        <p:spPr>
          <a:xfrm>
            <a:off x="609600" y="935503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4400" dirty="0"/>
              <a:t>AI/ML-Based Decomposition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76CDF4-7B02-2D23-DB36-FAAD809DEB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317661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A4853-96AE-D845-0661-7124EC3FB8E0}"/>
              </a:ext>
            </a:extLst>
          </p:cNvPr>
          <p:cNvSpPr txBox="1"/>
          <p:nvPr/>
        </p:nvSpPr>
        <p:spPr>
          <a:xfrm>
            <a:off x="571500" y="1571599"/>
            <a:ext cx="61061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Machine learning </a:t>
            </a:r>
            <a:r>
              <a:rPr lang="en-GB" dirty="0" err="1"/>
              <a:t>analyzes</a:t>
            </a:r>
            <a:r>
              <a:rPr lang="en-GB" dirty="0"/>
              <a:t>: </a:t>
            </a:r>
          </a:p>
          <a:p>
            <a:pPr lvl="1"/>
            <a:r>
              <a:rPr lang="en-GB" dirty="0"/>
              <a:t>coupling </a:t>
            </a:r>
          </a:p>
          <a:p>
            <a:pPr lvl="1"/>
            <a:r>
              <a:rPr lang="en-GB" dirty="0"/>
              <a:t>runtime traces </a:t>
            </a:r>
          </a:p>
          <a:p>
            <a:pPr lvl="1"/>
            <a:r>
              <a:rPr lang="en-GB" dirty="0"/>
              <a:t>service dependencies </a:t>
            </a:r>
          </a:p>
          <a:p>
            <a:r>
              <a:rPr lang="en-GB" b="1" dirty="0"/>
              <a:t>Mention</a:t>
            </a:r>
          </a:p>
          <a:p>
            <a:r>
              <a:rPr lang="en-GB" dirty="0"/>
              <a:t>clustering algorithms </a:t>
            </a:r>
          </a:p>
          <a:p>
            <a:r>
              <a:rPr lang="en-GB" dirty="0"/>
              <a:t>trace analysis </a:t>
            </a:r>
          </a:p>
          <a:p>
            <a:r>
              <a:rPr lang="en-GB" b="1" dirty="0"/>
              <a:t>Diagram</a:t>
            </a:r>
          </a:p>
          <a:p>
            <a:r>
              <a:rPr lang="en-GB" dirty="0"/>
              <a:t>AI </a:t>
            </a:r>
            <a:r>
              <a:rPr lang="en-GB" dirty="0" err="1"/>
              <a:t>analyzing</a:t>
            </a:r>
            <a:r>
              <a:rPr lang="en-GB" dirty="0"/>
              <a:t> service graph.</a:t>
            </a:r>
          </a:p>
        </p:txBody>
      </p:sp>
    </p:spTree>
    <p:extLst>
      <p:ext uri="{BB962C8B-B14F-4D97-AF65-F5344CB8AC3E}">
        <p14:creationId xmlns:p14="http://schemas.microsoft.com/office/powerpoint/2010/main" val="2343928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D7D0255F-A22E-5399-D003-2103B2913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946EA4FD-B4DC-3DEC-DE4E-2ABE5332AFA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1CF17D88-CBEC-D27D-52EA-45CEA00B1024}"/>
              </a:ext>
            </a:extLst>
          </p:cNvPr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40CD2FB9-BDBC-5466-E593-CFEC52E310A3}"/>
              </a:ext>
            </a:extLst>
          </p:cNvPr>
          <p:cNvSpPr txBox="1"/>
          <p:nvPr/>
        </p:nvSpPr>
        <p:spPr>
          <a:xfrm>
            <a:off x="609600" y="935503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4400" dirty="0"/>
              <a:t>Challenges in Decomposition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87EAEE-3671-D8E3-9266-3983096E7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317661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202E9B-FB66-F55B-74B4-4059AFA71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1488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 dependency complexity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consistency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Latency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 difficulty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111DC6-B242-BE0D-F1D5-EE73894D72A7}"/>
              </a:ext>
            </a:extLst>
          </p:cNvPr>
          <p:cNvSpPr txBox="1"/>
          <p:nvPr/>
        </p:nvSpPr>
        <p:spPr>
          <a:xfrm>
            <a:off x="511148" y="3167390"/>
            <a:ext cx="6106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Visual</a:t>
            </a:r>
          </a:p>
          <a:p>
            <a:pPr>
              <a:buNone/>
            </a:pPr>
            <a:r>
              <a:rPr lang="en-US" dirty="0"/>
              <a:t>Problem icons or risk chart.</a:t>
            </a:r>
          </a:p>
        </p:txBody>
      </p:sp>
    </p:spTree>
    <p:extLst>
      <p:ext uri="{BB962C8B-B14F-4D97-AF65-F5344CB8AC3E}">
        <p14:creationId xmlns:p14="http://schemas.microsoft.com/office/powerpoint/2010/main" val="2697699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2D0CF221-1AE6-331F-2AFA-71CFE29A4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22134CED-BEE0-E204-A983-B471148E71D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63C235A1-B6B4-7C45-D679-707FACBA5EBB}"/>
              </a:ext>
            </a:extLst>
          </p:cNvPr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027E527B-10D3-A38A-1A0C-598CD90AAEF6}"/>
              </a:ext>
            </a:extLst>
          </p:cNvPr>
          <p:cNvSpPr txBox="1"/>
          <p:nvPr/>
        </p:nvSpPr>
        <p:spPr>
          <a:xfrm>
            <a:off x="3342640" y="2751892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4400" dirty="0"/>
              <a:t>Database Connection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141E91-10ED-6D83-84EC-D121A74A7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317661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270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6D9AF309-B979-FE13-9DD4-8D5ADE9E8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D8366D70-2763-391E-2B76-87DAF3E0D36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22B6C9C4-3F98-3EB0-FE9A-599F8C237135}"/>
              </a:ext>
            </a:extLst>
          </p:cNvPr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D5248912-793C-234A-867D-BA53B0C444CF}"/>
              </a:ext>
            </a:extLst>
          </p:cNvPr>
          <p:cNvSpPr txBox="1"/>
          <p:nvPr/>
        </p:nvSpPr>
        <p:spPr>
          <a:xfrm>
            <a:off x="609600" y="935503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4400" dirty="0"/>
              <a:t>Database per Service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0AAD0E-50C3-B808-F765-11BCB5E31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317661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BC7BFE-8E0B-95C7-D43D-8E163B4AE914}"/>
              </a:ext>
            </a:extLst>
          </p:cNvPr>
          <p:cNvSpPr txBox="1"/>
          <p:nvPr/>
        </p:nvSpPr>
        <p:spPr>
          <a:xfrm>
            <a:off x="701965" y="1795462"/>
            <a:ext cx="610616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 service owns its database.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isolation and scalability. </a:t>
            </a:r>
          </a:p>
          <a:p>
            <a:pPr>
              <a:buNone/>
            </a:pPr>
            <a:r>
              <a:rPr lang="en-US" b="1" dirty="0"/>
              <a:t>Pros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independent deployment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fault isolation </a:t>
            </a:r>
          </a:p>
          <a:p>
            <a:pPr>
              <a:buNone/>
            </a:pPr>
            <a:r>
              <a:rPr lang="en-US" b="1" dirty="0"/>
              <a:t>Cons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harder joins</a:t>
            </a:r>
          </a:p>
        </p:txBody>
      </p:sp>
    </p:spTree>
    <p:extLst>
      <p:ext uri="{BB962C8B-B14F-4D97-AF65-F5344CB8AC3E}">
        <p14:creationId xmlns:p14="http://schemas.microsoft.com/office/powerpoint/2010/main" val="2313283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F7BD4014-2AA3-8734-4F65-73D937900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36ABBB18-DB7E-4CBD-96C2-82D12266A10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86EE99CA-7613-E660-A49E-86F252269613}"/>
              </a:ext>
            </a:extLst>
          </p:cNvPr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853CD885-4BAA-AA8D-7EB9-FEC1F832F488}"/>
              </a:ext>
            </a:extLst>
          </p:cNvPr>
          <p:cNvSpPr txBox="1"/>
          <p:nvPr/>
        </p:nvSpPr>
        <p:spPr>
          <a:xfrm>
            <a:off x="609600" y="935503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4400" b="1" dirty="0"/>
              <a:t>Shared Database Pattern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E1A7CD-3F22-F78E-992B-E51AEBF8E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317661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C3C550-BF66-EC72-0AA3-FDC8D749E5BF}"/>
              </a:ext>
            </a:extLst>
          </p:cNvPr>
          <p:cNvSpPr txBox="1"/>
          <p:nvPr/>
        </p:nvSpPr>
        <p:spPr>
          <a:xfrm>
            <a:off x="701965" y="1795462"/>
            <a:ext cx="61061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Multiple services share one DB. </a:t>
            </a:r>
          </a:p>
          <a:p>
            <a:r>
              <a:rPr lang="en-GB" b="1"/>
              <a:t>Pros</a:t>
            </a:r>
          </a:p>
          <a:p>
            <a:r>
              <a:rPr lang="en-GB"/>
              <a:t>easier transactions </a:t>
            </a:r>
          </a:p>
          <a:p>
            <a:r>
              <a:rPr lang="en-GB" b="1"/>
              <a:t>Cons</a:t>
            </a:r>
          </a:p>
          <a:p>
            <a:r>
              <a:rPr lang="en-GB"/>
              <a:t>tight coupling</a:t>
            </a:r>
          </a:p>
        </p:txBody>
      </p:sp>
    </p:spTree>
    <p:extLst>
      <p:ext uri="{BB962C8B-B14F-4D97-AF65-F5344CB8AC3E}">
        <p14:creationId xmlns:p14="http://schemas.microsoft.com/office/powerpoint/2010/main" val="1582893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621A0A28-9D79-8C56-4717-73D0A2615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5EF157D9-A418-831F-D4B9-CFDC0E67634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E231637E-DC52-C6B4-DB97-546BE69BB690}"/>
              </a:ext>
            </a:extLst>
          </p:cNvPr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99726464-420B-32F6-5D00-35EFFD55D1CC}"/>
              </a:ext>
            </a:extLst>
          </p:cNvPr>
          <p:cNvSpPr txBox="1"/>
          <p:nvPr/>
        </p:nvSpPr>
        <p:spPr>
          <a:xfrm>
            <a:off x="609600" y="935503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4400" dirty="0"/>
              <a:t>Saga Pattern</a:t>
            </a:r>
            <a:endParaRPr lang="en-GB" sz="44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5992D-A0F2-2FDE-76B6-1BDC9119E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317661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04A405-690A-C6A3-4019-83F695393FA2}"/>
              </a:ext>
            </a:extLst>
          </p:cNvPr>
          <p:cNvSpPr txBox="1"/>
          <p:nvPr/>
        </p:nvSpPr>
        <p:spPr>
          <a:xfrm>
            <a:off x="701965" y="1795462"/>
            <a:ext cx="61061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Handles distributed transactions. </a:t>
            </a:r>
          </a:p>
          <a:p>
            <a:r>
              <a:rPr lang="en-US" dirty="0"/>
              <a:t>Uses compensation actions. </a:t>
            </a:r>
          </a:p>
          <a:p>
            <a:r>
              <a:rPr lang="en-US" b="1" dirty="0"/>
              <a:t>Example</a:t>
            </a:r>
          </a:p>
          <a:p>
            <a:r>
              <a:rPr lang="en-US" dirty="0"/>
              <a:t>Order fails → rollback payment.</a:t>
            </a:r>
          </a:p>
          <a:p>
            <a:r>
              <a:rPr lang="en-US" b="1" dirty="0"/>
              <a:t>Diagram</a:t>
            </a:r>
          </a:p>
          <a:p>
            <a:r>
              <a:rPr lang="en-US" dirty="0"/>
              <a:t>Saga workflow.</a:t>
            </a:r>
          </a:p>
        </p:txBody>
      </p:sp>
      <p:pic>
        <p:nvPicPr>
          <p:cNvPr id="10242" name="Picture 2" descr="Understanding SAGA Design Pattern for Microservices | Anand Bhandari posted on the topic | LinkedIn">
            <a:extLst>
              <a:ext uri="{FF2B5EF4-FFF2-40B4-BE49-F238E27FC236}">
                <a16:creationId xmlns:a16="http://schemas.microsoft.com/office/drawing/2014/main" id="{A5FFAEA8-4A24-1E54-9CFE-15A410BEC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640" y="1400174"/>
            <a:ext cx="7620000" cy="507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2858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0B9173F7-A20B-C3C9-F72D-1929B43B4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8765A44F-FFF4-CFEA-0620-5FE3F7F20FC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90BC637A-E6FE-FA54-55F7-36A609E68EF2}"/>
              </a:ext>
            </a:extLst>
          </p:cNvPr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94A07532-64B3-8749-4383-3F2C0445D3D8}"/>
              </a:ext>
            </a:extLst>
          </p:cNvPr>
          <p:cNvSpPr txBox="1"/>
          <p:nvPr/>
        </p:nvSpPr>
        <p:spPr>
          <a:xfrm>
            <a:off x="609600" y="935503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4400" dirty="0"/>
              <a:t>API Gateway &amp; Communication</a:t>
            </a:r>
            <a:endParaRPr lang="en-GB" sz="44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AA80FF-AD6A-BD4C-60A3-A881F6AF7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317661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0FF75C-D28B-EBC2-F952-A85C5AB414F8}"/>
              </a:ext>
            </a:extLst>
          </p:cNvPr>
          <p:cNvSpPr txBox="1"/>
          <p:nvPr/>
        </p:nvSpPr>
        <p:spPr>
          <a:xfrm>
            <a:off x="701965" y="1795462"/>
            <a:ext cx="61061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Gateway routes requests. </a:t>
            </a:r>
          </a:p>
          <a:p>
            <a:r>
              <a:rPr lang="en-US" dirty="0"/>
              <a:t>Centralized authentication and monitoring. </a:t>
            </a:r>
          </a:p>
          <a:p>
            <a:r>
              <a:rPr lang="en-US" b="1" dirty="0"/>
              <a:t>Diagram</a:t>
            </a:r>
          </a:p>
          <a:p>
            <a:r>
              <a:rPr lang="en-US" dirty="0"/>
              <a:t>Client → API Gateway → Services</a:t>
            </a:r>
          </a:p>
        </p:txBody>
      </p:sp>
      <p:pic>
        <p:nvPicPr>
          <p:cNvPr id="11266" name="Picture 2" descr="System Design: API Gateway + Backend for Frontend(BFF) + Cache Stampede + Circuit Breaker | by Rishabh Jain | Medium">
            <a:extLst>
              <a:ext uri="{FF2B5EF4-FFF2-40B4-BE49-F238E27FC236}">
                <a16:creationId xmlns:a16="http://schemas.microsoft.com/office/drawing/2014/main" id="{238F7160-8945-9CA2-208E-E1A510754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569" y="1612611"/>
            <a:ext cx="7422832" cy="474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8516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AC70EDAD-5F9A-20D0-2F67-65202FE62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1E75B8CC-08E1-01D0-D512-2CBA1D31A58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D122940E-3F16-C902-E053-F7EC205F0C23}"/>
              </a:ext>
            </a:extLst>
          </p:cNvPr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D876EC9C-D6A6-603E-D0D1-F62C29B43805}"/>
              </a:ext>
            </a:extLst>
          </p:cNvPr>
          <p:cNvSpPr txBox="1"/>
          <p:nvPr/>
        </p:nvSpPr>
        <p:spPr>
          <a:xfrm>
            <a:off x="1016000" y="1118354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4400" dirty="0"/>
              <a:t>Impact Analysis</a:t>
            </a:r>
            <a:endParaRPr lang="en-GB" sz="44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B4434C-5D8F-A830-7F0B-564057F4D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317661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3FF87B-A4E3-9BFA-8DCD-667838BD1FD4}"/>
              </a:ext>
            </a:extLst>
          </p:cNvPr>
          <p:cNvSpPr txBox="1"/>
          <p:nvPr/>
        </p:nvSpPr>
        <p:spPr>
          <a:xfrm>
            <a:off x="909320" y="2164793"/>
            <a:ext cx="6309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Impact on Performance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C8145F-873D-1180-FEBC-FA70405D6A94}"/>
              </a:ext>
            </a:extLst>
          </p:cNvPr>
          <p:cNvSpPr txBox="1"/>
          <p:nvPr/>
        </p:nvSpPr>
        <p:spPr>
          <a:xfrm>
            <a:off x="909320" y="2841901"/>
            <a:ext cx="630936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Positive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independent scaling </a:t>
            </a:r>
          </a:p>
          <a:p>
            <a:pPr>
              <a:buNone/>
            </a:pPr>
            <a:r>
              <a:rPr lang="en-US" b="1" dirty="0"/>
              <a:t>Negative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network latency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inter-service calls </a:t>
            </a:r>
          </a:p>
          <a:p>
            <a:pPr>
              <a:buNone/>
            </a:pPr>
            <a:r>
              <a:rPr lang="en-US" b="1" dirty="0"/>
              <a:t>Chart</a:t>
            </a:r>
          </a:p>
          <a:p>
            <a:pPr>
              <a:buNone/>
            </a:pPr>
            <a:r>
              <a:rPr lang="en-US" dirty="0"/>
              <a:t>Latency comparison chart.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9116B6-B741-332D-A010-89303EE3AEEC}"/>
              </a:ext>
            </a:extLst>
          </p:cNvPr>
          <p:cNvSpPr txBox="1"/>
          <p:nvPr/>
        </p:nvSpPr>
        <p:spPr>
          <a:xfrm>
            <a:off x="3825240" y="2195570"/>
            <a:ext cx="6309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Impact on Cost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DD2E36-2370-4EC2-E782-4BF9A6AEFD19}"/>
              </a:ext>
            </a:extLst>
          </p:cNvPr>
          <p:cNvSpPr txBox="1"/>
          <p:nvPr/>
        </p:nvSpPr>
        <p:spPr>
          <a:xfrm>
            <a:off x="3825240" y="2815408"/>
            <a:ext cx="63093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Costs Increase Due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infrastructure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monitoring tools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orchestration </a:t>
            </a:r>
          </a:p>
          <a:p>
            <a:pPr>
              <a:buNone/>
            </a:pPr>
            <a:r>
              <a:rPr lang="en-US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efficient scaling </a:t>
            </a:r>
          </a:p>
          <a:p>
            <a:pPr>
              <a:buNone/>
            </a:pPr>
            <a:r>
              <a:rPr lang="en-US" b="1" dirty="0"/>
              <a:t>Chart</a:t>
            </a:r>
          </a:p>
          <a:p>
            <a:pPr>
              <a:buNone/>
            </a:pPr>
            <a:r>
              <a:rPr lang="en-US" dirty="0"/>
              <a:t>Cost vs scalability graph.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D65E20-63DB-08A1-2944-7281EB27EB53}"/>
              </a:ext>
            </a:extLst>
          </p:cNvPr>
          <p:cNvSpPr txBox="1"/>
          <p:nvPr/>
        </p:nvSpPr>
        <p:spPr>
          <a:xfrm>
            <a:off x="6572885" y="2222063"/>
            <a:ext cx="6309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Impact on Reliability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9A2B31-0A3B-63C2-6BD3-3D41454143E1}"/>
              </a:ext>
            </a:extLst>
          </p:cNvPr>
          <p:cNvSpPr txBox="1"/>
          <p:nvPr/>
        </p:nvSpPr>
        <p:spPr>
          <a:xfrm>
            <a:off x="6572885" y="2815408"/>
            <a:ext cx="64414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fault isolation </a:t>
            </a:r>
          </a:p>
          <a:p>
            <a:pPr>
              <a:buNone/>
            </a:pPr>
            <a:r>
              <a:rPr lang="en-GB" b="1" dirty="0"/>
              <a:t>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cascading failures </a:t>
            </a:r>
          </a:p>
          <a:p>
            <a:pPr>
              <a:buNone/>
            </a:pPr>
            <a:r>
              <a:rPr lang="en-GB" b="1" dirty="0"/>
              <a:t>Mention</a:t>
            </a:r>
          </a:p>
          <a:p>
            <a:pPr>
              <a:buNone/>
            </a:pPr>
            <a:r>
              <a:rPr lang="en-GB" dirty="0"/>
              <a:t>Circuit Breaker Pattern.</a:t>
            </a:r>
          </a:p>
          <a:p>
            <a:pPr>
              <a:buNone/>
            </a:pPr>
            <a:r>
              <a:rPr lang="en-GB" b="1" dirty="0"/>
              <a:t>Diagram</a:t>
            </a:r>
          </a:p>
          <a:p>
            <a:pPr>
              <a:buNone/>
            </a:pPr>
            <a:r>
              <a:rPr lang="en-GB" dirty="0"/>
              <a:t>Failure isolation example.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D79848-766B-D0F4-4C12-759B12310AEB}"/>
              </a:ext>
            </a:extLst>
          </p:cNvPr>
          <p:cNvSpPr txBox="1"/>
          <p:nvPr/>
        </p:nvSpPr>
        <p:spPr>
          <a:xfrm>
            <a:off x="8997633" y="2195570"/>
            <a:ext cx="6507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Impact on Flexibility &amp; Scalability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71996C-B763-6950-E365-87ADA7F8BDB1}"/>
              </a:ext>
            </a:extLst>
          </p:cNvPr>
          <p:cNvSpPr txBox="1"/>
          <p:nvPr/>
        </p:nvSpPr>
        <p:spPr>
          <a:xfrm>
            <a:off x="9006205" y="2769036"/>
            <a:ext cx="77520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deployment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Technology diversity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Team independence </a:t>
            </a:r>
          </a:p>
          <a:p>
            <a:pPr>
              <a:buNone/>
            </a:pPr>
            <a:r>
              <a:rPr lang="en-US" b="1" dirty="0"/>
              <a:t>Diagram</a:t>
            </a:r>
          </a:p>
          <a:p>
            <a:pPr>
              <a:buNone/>
            </a:pPr>
            <a:r>
              <a:rPr lang="en-US" dirty="0"/>
              <a:t>Independent scaling illustration.</a:t>
            </a:r>
          </a:p>
        </p:txBody>
      </p:sp>
    </p:spTree>
    <p:extLst>
      <p:ext uri="{BB962C8B-B14F-4D97-AF65-F5344CB8AC3E}">
        <p14:creationId xmlns:p14="http://schemas.microsoft.com/office/powerpoint/2010/main" val="2450055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2">
          <a:extLst>
            <a:ext uri="{FF2B5EF4-FFF2-40B4-BE49-F238E27FC236}">
              <a16:creationId xmlns:a16="http://schemas.microsoft.com/office/drawing/2014/main" id="{CCCDD4EE-0134-121A-D758-163738EDC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EC40871E-8684-F3B8-55F4-855A9921BB8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BBF62FBE-A616-3FBE-45C0-741BD7335725}"/>
              </a:ext>
            </a:extLst>
          </p:cNvPr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8737D9F9-42F4-0AF8-AF25-8C0CB8CB44AA}"/>
              </a:ext>
            </a:extLst>
          </p:cNvPr>
          <p:cNvSpPr txBox="1"/>
          <p:nvPr/>
        </p:nvSpPr>
        <p:spPr>
          <a:xfrm>
            <a:off x="2184400" y="2937023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4400" dirty="0"/>
              <a:t>Proposed Solution + Evaluation</a:t>
            </a:r>
            <a:endParaRPr lang="en-GB" sz="44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4C5D56-7280-93A9-F855-BDAEC6113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317661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9171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7">
          <a:extLst>
            <a:ext uri="{FF2B5EF4-FFF2-40B4-BE49-F238E27FC236}">
              <a16:creationId xmlns:a16="http://schemas.microsoft.com/office/drawing/2014/main" id="{6BB54205-1BA8-5B97-EE23-7B29F41EA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>
            <a:extLst>
              <a:ext uri="{FF2B5EF4-FFF2-40B4-BE49-F238E27FC236}">
                <a16:creationId xmlns:a16="http://schemas.microsoft.com/office/drawing/2014/main" id="{A6182167-2AB7-36B2-034E-07DEC0BEA071}"/>
              </a:ext>
            </a:extLst>
          </p:cNvPr>
          <p:cNvSpPr txBox="1"/>
          <p:nvPr/>
        </p:nvSpPr>
        <p:spPr>
          <a:xfrm>
            <a:off x="866775" y="2767012"/>
            <a:ext cx="109813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Contribution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3" name="Google Shape;113;p15">
            <a:extLst>
              <a:ext uri="{FF2B5EF4-FFF2-40B4-BE49-F238E27FC236}">
                <a16:creationId xmlns:a16="http://schemas.microsoft.com/office/drawing/2014/main" id="{0750B290-149F-B96B-3EF7-E549BBB535E1}"/>
              </a:ext>
            </a:extLst>
          </p:cNvPr>
          <p:cNvSpPr txBox="1"/>
          <p:nvPr/>
        </p:nvSpPr>
        <p:spPr>
          <a:xfrm>
            <a:off x="866775" y="3100387"/>
            <a:ext cx="104584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We propose the 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Granularity Optimization Decision Framework (GODF)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: a multi-signal approach that ingests structural, runtime, and organizational data to bridge the business-technical gap.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4" name="Google Shape;114;p15">
            <a:extLst>
              <a:ext uri="{FF2B5EF4-FFF2-40B4-BE49-F238E27FC236}">
                <a16:creationId xmlns:a16="http://schemas.microsoft.com/office/drawing/2014/main" id="{99246442-68FA-B2C6-0D11-FD8666CD364F}"/>
              </a:ext>
            </a:extLst>
          </p:cNvPr>
          <p:cNvSpPr txBox="1"/>
          <p:nvPr/>
        </p:nvSpPr>
        <p:spPr>
          <a:xfrm>
            <a:off x="866775" y="4491037"/>
            <a:ext cx="506063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Structural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5" name="Google Shape;115;p15">
            <a:extLst>
              <a:ext uri="{FF2B5EF4-FFF2-40B4-BE49-F238E27FC236}">
                <a16:creationId xmlns:a16="http://schemas.microsoft.com/office/drawing/2014/main" id="{39C18EFE-1861-332D-6D48-05529953C476}"/>
              </a:ext>
            </a:extLst>
          </p:cNvPr>
          <p:cNvSpPr txBox="1"/>
          <p:nvPr/>
        </p:nvSpPr>
        <p:spPr>
          <a:xfrm>
            <a:off x="866775" y="4824412"/>
            <a:ext cx="48196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Code coupling metrics.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6" name="Google Shape;116;p15">
            <a:extLst>
              <a:ext uri="{FF2B5EF4-FFF2-40B4-BE49-F238E27FC236}">
                <a16:creationId xmlns:a16="http://schemas.microsoft.com/office/drawing/2014/main" id="{A61D6613-7A44-B2E6-2D90-99AF445D437B}"/>
              </a:ext>
            </a:extLst>
          </p:cNvPr>
          <p:cNvSpPr txBox="1"/>
          <p:nvPr/>
        </p:nvSpPr>
        <p:spPr>
          <a:xfrm>
            <a:off x="6505575" y="4491037"/>
            <a:ext cx="506063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Runtime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7" name="Google Shape;117;p15">
            <a:extLst>
              <a:ext uri="{FF2B5EF4-FFF2-40B4-BE49-F238E27FC236}">
                <a16:creationId xmlns:a16="http://schemas.microsoft.com/office/drawing/2014/main" id="{6E1F7B76-105A-5524-39AD-A8AE3040445D}"/>
              </a:ext>
            </a:extLst>
          </p:cNvPr>
          <p:cNvSpPr txBox="1"/>
          <p:nvPr/>
        </p:nvSpPr>
        <p:spPr>
          <a:xfrm>
            <a:off x="6505575" y="4824412"/>
            <a:ext cx="48196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Trace frequency graphs.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8" name="Google Shape;118;p15">
            <a:extLst>
              <a:ext uri="{FF2B5EF4-FFF2-40B4-BE49-F238E27FC236}">
                <a16:creationId xmlns:a16="http://schemas.microsoft.com/office/drawing/2014/main" id="{1C497D90-890E-C71D-6C9C-EEEFBAD84E07}"/>
              </a:ext>
            </a:extLst>
          </p:cNvPr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9" name="Google Shape;119;p15">
            <a:extLst>
              <a:ext uri="{FF2B5EF4-FFF2-40B4-BE49-F238E27FC236}">
                <a16:creationId xmlns:a16="http://schemas.microsoft.com/office/drawing/2014/main" id="{E5E12960-EEFE-16E1-805C-099FDCE5FCFC}"/>
              </a:ext>
            </a:extLst>
          </p:cNvPr>
          <p:cNvSpPr txBox="1"/>
          <p:nvPr/>
        </p:nvSpPr>
        <p:spPr>
          <a:xfrm>
            <a:off x="704850" y="911006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4400" dirty="0"/>
              <a:t>Proposed GODF Framework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0308FC39-B7A3-05EB-C9AB-6BD16677D652}"/>
              </a:ext>
            </a:extLst>
          </p:cNvPr>
          <p:cNvSpPr/>
          <p:nvPr/>
        </p:nvSpPr>
        <p:spPr>
          <a:xfrm>
            <a:off x="571500" y="2487561"/>
            <a:ext cx="11049000" cy="1473425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BACBAF7B-7B3C-57F6-C089-4DB05FE7B628}"/>
              </a:ext>
            </a:extLst>
          </p:cNvPr>
          <p:cNvSpPr/>
          <p:nvPr/>
        </p:nvSpPr>
        <p:spPr>
          <a:xfrm>
            <a:off x="571500" y="4195762"/>
            <a:ext cx="5410200" cy="1209675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84EACB60-DE89-3F18-357E-B7DB0B0DB399}"/>
              </a:ext>
            </a:extLst>
          </p:cNvPr>
          <p:cNvSpPr/>
          <p:nvPr/>
        </p:nvSpPr>
        <p:spPr>
          <a:xfrm>
            <a:off x="6210300" y="4195762"/>
            <a:ext cx="5410200" cy="1209675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8442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3">
          <a:extLst>
            <a:ext uri="{FF2B5EF4-FFF2-40B4-BE49-F238E27FC236}">
              <a16:creationId xmlns:a16="http://schemas.microsoft.com/office/drawing/2014/main" id="{15A97246-BBEF-F14A-C32E-170EF27AF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72C2DB36-542C-7D66-FB2C-3C07E9CFA267}"/>
              </a:ext>
            </a:extLst>
          </p:cNvPr>
          <p:cNvSpPr txBox="1"/>
          <p:nvPr/>
        </p:nvSpPr>
        <p:spPr>
          <a:xfrm>
            <a:off x="571500" y="2938462"/>
            <a:ext cx="762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33" name="Google Shape;133;p16">
            <a:extLst>
              <a:ext uri="{FF2B5EF4-FFF2-40B4-BE49-F238E27FC236}">
                <a16:creationId xmlns:a16="http://schemas.microsoft.com/office/drawing/2014/main" id="{6BEC8616-BBB4-E2C1-5403-4D2781210C34}"/>
              </a:ext>
            </a:extLst>
          </p:cNvPr>
          <p:cNvSpPr txBox="1"/>
          <p:nvPr/>
        </p:nvSpPr>
        <p:spPr>
          <a:xfrm>
            <a:off x="571500" y="3367087"/>
            <a:ext cx="762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27017DC5-03D0-0288-DB5F-E9801F2C3793}"/>
              </a:ext>
            </a:extLst>
          </p:cNvPr>
          <p:cNvSpPr txBox="1"/>
          <p:nvPr/>
        </p:nvSpPr>
        <p:spPr>
          <a:xfrm>
            <a:off x="571500" y="3795712"/>
            <a:ext cx="762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35" name="Google Shape;135;p16">
            <a:extLst>
              <a:ext uri="{FF2B5EF4-FFF2-40B4-BE49-F238E27FC236}">
                <a16:creationId xmlns:a16="http://schemas.microsoft.com/office/drawing/2014/main" id="{EF5D1E3F-19A2-5E27-60FC-53339D9B894C}"/>
              </a:ext>
            </a:extLst>
          </p:cNvPr>
          <p:cNvSpPr txBox="1"/>
          <p:nvPr/>
        </p:nvSpPr>
        <p:spPr>
          <a:xfrm>
            <a:off x="571500" y="4224337"/>
            <a:ext cx="762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5B20AB7A-0D39-A2CC-0887-FF877FCF253F}"/>
              </a:ext>
            </a:extLst>
          </p:cNvPr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8F666D1D-F645-0DD4-DBF7-80679F13138B}"/>
              </a:ext>
            </a:extLst>
          </p:cNvPr>
          <p:cNvSpPr txBox="1"/>
          <p:nvPr/>
        </p:nvSpPr>
        <p:spPr>
          <a:xfrm>
            <a:off x="609600" y="975300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4400" dirty="0"/>
              <a:t>Architecture Diagram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2370D0-8141-C0C4-7CD1-7A591F903EDA}"/>
              </a:ext>
            </a:extLst>
          </p:cNvPr>
          <p:cNvSpPr txBox="1"/>
          <p:nvPr/>
        </p:nvSpPr>
        <p:spPr>
          <a:xfrm>
            <a:off x="726440" y="2090499"/>
            <a:ext cx="610616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Framework components: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Data Collector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Analyzer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Decision Engine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Output Services </a:t>
            </a:r>
          </a:p>
          <a:p>
            <a:pPr>
              <a:buNone/>
            </a:pPr>
            <a:r>
              <a:rPr lang="en-GB" b="1" dirty="0"/>
              <a:t>Diagram</a:t>
            </a:r>
          </a:p>
          <a:p>
            <a:pPr>
              <a:buNone/>
            </a:pPr>
            <a:r>
              <a:rPr lang="en-GB" dirty="0"/>
              <a:t>System architecture block diagram.</a:t>
            </a:r>
          </a:p>
        </p:txBody>
      </p:sp>
    </p:spTree>
    <p:extLst>
      <p:ext uri="{BB962C8B-B14F-4D97-AF65-F5344CB8AC3E}">
        <p14:creationId xmlns:p14="http://schemas.microsoft.com/office/powerpoint/2010/main" val="31038929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64">
          <a:extLst>
            <a:ext uri="{FF2B5EF4-FFF2-40B4-BE49-F238E27FC236}">
              <a16:creationId xmlns:a16="http://schemas.microsoft.com/office/drawing/2014/main" id="{F9C77F0C-C332-477E-72E4-A7EFBEB51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5" descr="image.png">
            <a:extLst>
              <a:ext uri="{FF2B5EF4-FFF2-40B4-BE49-F238E27FC236}">
                <a16:creationId xmlns:a16="http://schemas.microsoft.com/office/drawing/2014/main" id="{7368FC7B-745B-1B31-6615-EFD38CF5626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>
            <a:extLst>
              <a:ext uri="{FF2B5EF4-FFF2-40B4-BE49-F238E27FC236}">
                <a16:creationId xmlns:a16="http://schemas.microsoft.com/office/drawing/2014/main" id="{DD0929CF-79CC-0D6A-0A97-BD50B7C601B6}"/>
              </a:ext>
            </a:extLst>
          </p:cNvPr>
          <p:cNvSpPr txBox="1"/>
          <p:nvPr/>
        </p:nvSpPr>
        <p:spPr>
          <a:xfrm>
            <a:off x="571500" y="1795462"/>
            <a:ext cx="555069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+mj-lt"/>
                <a:ea typeface="Urbanist Medium"/>
                <a:cs typeface="Urbanist Medium"/>
                <a:sym typeface="Urbanist Medium"/>
              </a:rPr>
              <a:t>Experimental Platform</a:t>
            </a:r>
            <a:endParaRPr sz="1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8" name="Google Shape;268;p25">
            <a:extLst>
              <a:ext uri="{FF2B5EF4-FFF2-40B4-BE49-F238E27FC236}">
                <a16:creationId xmlns:a16="http://schemas.microsoft.com/office/drawing/2014/main" id="{DF43700C-2DC9-3A7E-D538-5B195A7CB7D2}"/>
              </a:ext>
            </a:extLst>
          </p:cNvPr>
          <p:cNvSpPr txBox="1"/>
          <p:nvPr/>
        </p:nvSpPr>
        <p:spPr>
          <a:xfrm>
            <a:off x="571500" y="2014537"/>
            <a:ext cx="52863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+mn-lt"/>
                <a:ea typeface="Urbanist Light"/>
                <a:cs typeface="Urbanist Light"/>
                <a:sym typeface="Urbanist Light"/>
              </a:rPr>
              <a:t>Production e-commerce platform with 120,000 daily users. Covers 8 domains (Catalog, Checkout, etc.)</a:t>
            </a:r>
            <a:endParaRPr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69" name="Google Shape;269;p25">
            <a:extLst>
              <a:ext uri="{FF2B5EF4-FFF2-40B4-BE49-F238E27FC236}">
                <a16:creationId xmlns:a16="http://schemas.microsoft.com/office/drawing/2014/main" id="{F493588C-4021-4806-434F-B59357B21F4E}"/>
              </a:ext>
            </a:extLst>
          </p:cNvPr>
          <p:cNvSpPr txBox="1"/>
          <p:nvPr/>
        </p:nvSpPr>
        <p:spPr>
          <a:xfrm>
            <a:off x="571500" y="2776537"/>
            <a:ext cx="52863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Diverse traffic: 60% browsing, 30% transactional, 10% batch updates.</a:t>
            </a:r>
            <a:endParaRPr sz="1800" dirty="0">
              <a:solidFill>
                <a:schemeClr val="tx1"/>
              </a:solidFill>
            </a:endParaRPr>
          </a:p>
        </p:txBody>
      </p:sp>
      <p:pic>
        <p:nvPicPr>
          <p:cNvPr id="270" name="Google Shape;270;p25" descr="image.png">
            <a:extLst>
              <a:ext uri="{FF2B5EF4-FFF2-40B4-BE49-F238E27FC236}">
                <a16:creationId xmlns:a16="http://schemas.microsoft.com/office/drawing/2014/main" id="{9B8B82FC-81D0-3DF0-497D-5E2152632D4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465662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>
            <a:extLst>
              <a:ext uri="{FF2B5EF4-FFF2-40B4-BE49-F238E27FC236}">
                <a16:creationId xmlns:a16="http://schemas.microsoft.com/office/drawing/2014/main" id="{5D0E3846-F8DD-A919-A892-467007A5866A}"/>
              </a:ext>
            </a:extLst>
          </p:cNvPr>
          <p:cNvSpPr txBox="1"/>
          <p:nvPr/>
        </p:nvSpPr>
        <p:spPr>
          <a:xfrm>
            <a:off x="10829925" y="285750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4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72" name="Google Shape;272;p25">
            <a:extLst>
              <a:ext uri="{FF2B5EF4-FFF2-40B4-BE49-F238E27FC236}">
                <a16:creationId xmlns:a16="http://schemas.microsoft.com/office/drawing/2014/main" id="{99FDF0FC-320F-2329-2C93-D93847ECC883}"/>
              </a:ext>
            </a:extLst>
          </p:cNvPr>
          <p:cNvSpPr txBox="1"/>
          <p:nvPr/>
        </p:nvSpPr>
        <p:spPr>
          <a:xfrm>
            <a:off x="533400" y="935503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Use Case: </a:t>
            </a:r>
            <a:r>
              <a:rPr lang="en-US" sz="4200" b="0" i="0" u="none" strike="noStrike" cap="none" dirty="0" err="1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ShopFlow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100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3">
          <a:extLst>
            <a:ext uri="{FF2B5EF4-FFF2-40B4-BE49-F238E27FC236}">
              <a16:creationId xmlns:a16="http://schemas.microsoft.com/office/drawing/2014/main" id="{4149B1C3-04DD-5FC2-C68B-8B2FB9FA4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>
            <a:extLst>
              <a:ext uri="{FF2B5EF4-FFF2-40B4-BE49-F238E27FC236}">
                <a16:creationId xmlns:a16="http://schemas.microsoft.com/office/drawing/2014/main" id="{E55E76B6-B0E6-B860-212C-5F709D4F867F}"/>
              </a:ext>
            </a:extLst>
          </p:cNvPr>
          <p:cNvSpPr txBox="1"/>
          <p:nvPr/>
        </p:nvSpPr>
        <p:spPr>
          <a:xfrm>
            <a:off x="904875" y="3081337"/>
            <a:ext cx="408008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Approaches for Decomposition (DDD, SNAP, ML)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27" name="Google Shape;127;p16">
            <a:extLst>
              <a:ext uri="{FF2B5EF4-FFF2-40B4-BE49-F238E27FC236}">
                <a16:creationId xmlns:a16="http://schemas.microsoft.com/office/drawing/2014/main" id="{82587C01-CB3A-F1A0-14E7-0B88AFD1DD3F}"/>
              </a:ext>
            </a:extLst>
          </p:cNvPr>
          <p:cNvSpPr txBox="1"/>
          <p:nvPr/>
        </p:nvSpPr>
        <p:spPr>
          <a:xfrm>
            <a:off x="904875" y="3509962"/>
            <a:ext cx="4953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Database Connection and Ownership Patterns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28" name="Google Shape;128;p16">
            <a:extLst>
              <a:ext uri="{FF2B5EF4-FFF2-40B4-BE49-F238E27FC236}">
                <a16:creationId xmlns:a16="http://schemas.microsoft.com/office/drawing/2014/main" id="{899EBCC4-FC15-B63E-1E62-A5A69F9D9F5C}"/>
              </a:ext>
            </a:extLst>
          </p:cNvPr>
          <p:cNvSpPr txBox="1"/>
          <p:nvPr/>
        </p:nvSpPr>
        <p:spPr>
          <a:xfrm>
            <a:off x="904875" y="3938587"/>
            <a:ext cx="4953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Impact on Performance, Cost, and Reliability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29" name="Google Shape;129;p16">
            <a:extLst>
              <a:ext uri="{FF2B5EF4-FFF2-40B4-BE49-F238E27FC236}">
                <a16:creationId xmlns:a16="http://schemas.microsoft.com/office/drawing/2014/main" id="{6CE63038-0DFE-C2A7-7CF2-956B4F921E4A}"/>
              </a:ext>
            </a:extLst>
          </p:cNvPr>
          <p:cNvSpPr txBox="1"/>
          <p:nvPr/>
        </p:nvSpPr>
        <p:spPr>
          <a:xfrm>
            <a:off x="904875" y="4367212"/>
            <a:ext cx="4953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Case Study: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ShopFlow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Production Platform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0" name="Google Shape;130;p16">
            <a:extLst>
              <a:ext uri="{FF2B5EF4-FFF2-40B4-BE49-F238E27FC236}">
                <a16:creationId xmlns:a16="http://schemas.microsoft.com/office/drawing/2014/main" id="{F70C7B4B-BEE0-85D2-E237-8F713CCF59EF}"/>
              </a:ext>
            </a:extLst>
          </p:cNvPr>
          <p:cNvSpPr txBox="1"/>
          <p:nvPr/>
        </p:nvSpPr>
        <p:spPr>
          <a:xfrm>
            <a:off x="6629400" y="3376612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Goal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1" name="Google Shape;131;p16">
            <a:extLst>
              <a:ext uri="{FF2B5EF4-FFF2-40B4-BE49-F238E27FC236}">
                <a16:creationId xmlns:a16="http://schemas.microsoft.com/office/drawing/2014/main" id="{2C8D6F62-CF0D-5C30-E3FF-920CC922D593}"/>
              </a:ext>
            </a:extLst>
          </p:cNvPr>
          <p:cNvSpPr txBox="1"/>
          <p:nvPr/>
        </p:nvSpPr>
        <p:spPr>
          <a:xfrm>
            <a:off x="6629400" y="3709987"/>
            <a:ext cx="469582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Demonstrate how multi-objective balance leads to superior architectural health.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2" name="Google Shape;132;p16">
            <a:extLst>
              <a:ext uri="{FF2B5EF4-FFF2-40B4-BE49-F238E27FC236}">
                <a16:creationId xmlns:a16="http://schemas.microsoft.com/office/drawing/2014/main" id="{5F3048A6-572A-AB35-01E2-609D63824164}"/>
              </a:ext>
            </a:extLst>
          </p:cNvPr>
          <p:cNvSpPr txBox="1"/>
          <p:nvPr/>
        </p:nvSpPr>
        <p:spPr>
          <a:xfrm>
            <a:off x="571500" y="2938462"/>
            <a:ext cx="762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33" name="Google Shape;133;p16">
            <a:extLst>
              <a:ext uri="{FF2B5EF4-FFF2-40B4-BE49-F238E27FC236}">
                <a16:creationId xmlns:a16="http://schemas.microsoft.com/office/drawing/2014/main" id="{6FA32D0B-B5EC-674C-734C-3873AEE1EB7C}"/>
              </a:ext>
            </a:extLst>
          </p:cNvPr>
          <p:cNvSpPr txBox="1"/>
          <p:nvPr/>
        </p:nvSpPr>
        <p:spPr>
          <a:xfrm>
            <a:off x="571500" y="3367087"/>
            <a:ext cx="762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34" name="Google Shape;134;p16">
            <a:extLst>
              <a:ext uri="{FF2B5EF4-FFF2-40B4-BE49-F238E27FC236}">
                <a16:creationId xmlns:a16="http://schemas.microsoft.com/office/drawing/2014/main" id="{E52BFA37-CC34-5239-FE23-4FD8951A01C9}"/>
              </a:ext>
            </a:extLst>
          </p:cNvPr>
          <p:cNvSpPr txBox="1"/>
          <p:nvPr/>
        </p:nvSpPr>
        <p:spPr>
          <a:xfrm>
            <a:off x="571500" y="3795712"/>
            <a:ext cx="762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35" name="Google Shape;135;p16">
            <a:extLst>
              <a:ext uri="{FF2B5EF4-FFF2-40B4-BE49-F238E27FC236}">
                <a16:creationId xmlns:a16="http://schemas.microsoft.com/office/drawing/2014/main" id="{CD1C8784-CE1A-4602-3AE0-74FA36CFC5F2}"/>
              </a:ext>
            </a:extLst>
          </p:cNvPr>
          <p:cNvSpPr txBox="1"/>
          <p:nvPr/>
        </p:nvSpPr>
        <p:spPr>
          <a:xfrm>
            <a:off x="571500" y="4224337"/>
            <a:ext cx="762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36" name="Google Shape;136;p16">
            <a:extLst>
              <a:ext uri="{FF2B5EF4-FFF2-40B4-BE49-F238E27FC236}">
                <a16:creationId xmlns:a16="http://schemas.microsoft.com/office/drawing/2014/main" id="{3F1866FA-49B5-28B3-EC98-F4127F876656}"/>
              </a:ext>
            </a:extLst>
          </p:cNvPr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7" name="Google Shape;137;p16">
            <a:extLst>
              <a:ext uri="{FF2B5EF4-FFF2-40B4-BE49-F238E27FC236}">
                <a16:creationId xmlns:a16="http://schemas.microsoft.com/office/drawing/2014/main" id="{4A460D36-C93D-E995-9068-22F4209E8CB3}"/>
              </a:ext>
            </a:extLst>
          </p:cNvPr>
          <p:cNvSpPr txBox="1"/>
          <p:nvPr/>
        </p:nvSpPr>
        <p:spPr>
          <a:xfrm>
            <a:off x="609600" y="975300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Presentation Scope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922F0BB4-7E42-C5AF-47EA-17C3302CBC83}"/>
              </a:ext>
            </a:extLst>
          </p:cNvPr>
          <p:cNvSpPr/>
          <p:nvPr/>
        </p:nvSpPr>
        <p:spPr>
          <a:xfrm>
            <a:off x="6334125" y="3081337"/>
            <a:ext cx="5286375" cy="1714500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1357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>
          <a:extLst>
            <a:ext uri="{FF2B5EF4-FFF2-40B4-BE49-F238E27FC236}">
              <a16:creationId xmlns:a16="http://schemas.microsoft.com/office/drawing/2014/main" id="{6D35BF2E-5C5E-CC41-ACFC-13F006A6C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>
            <a:extLst>
              <a:ext uri="{FF2B5EF4-FFF2-40B4-BE49-F238E27FC236}">
                <a16:creationId xmlns:a16="http://schemas.microsoft.com/office/drawing/2014/main" id="{49640834-620A-DCE3-D803-7970BD542CF6}"/>
              </a:ext>
            </a:extLst>
          </p:cNvPr>
          <p:cNvSpPr txBox="1"/>
          <p:nvPr/>
        </p:nvSpPr>
        <p:spPr>
          <a:xfrm>
            <a:off x="571500" y="1795462"/>
            <a:ext cx="52863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The foundational qualitative approach for identifying service boundaries based on business subdomains.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4" name="Google Shape;144;p17">
            <a:extLst>
              <a:ext uri="{FF2B5EF4-FFF2-40B4-BE49-F238E27FC236}">
                <a16:creationId xmlns:a16="http://schemas.microsoft.com/office/drawing/2014/main" id="{C965E1FF-F78C-28B7-D86B-5B58DF12C6DC}"/>
              </a:ext>
            </a:extLst>
          </p:cNvPr>
          <p:cNvSpPr txBox="1"/>
          <p:nvPr/>
        </p:nvSpPr>
        <p:spPr>
          <a:xfrm>
            <a:off x="904875" y="2557462"/>
            <a:ext cx="49530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Bounded Contexts: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Defining systemic boundaries where a domain model is valid.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5" name="Google Shape;145;p17">
            <a:extLst>
              <a:ext uri="{FF2B5EF4-FFF2-40B4-BE49-F238E27FC236}">
                <a16:creationId xmlns:a16="http://schemas.microsoft.com/office/drawing/2014/main" id="{38898970-340D-E051-4F03-3A87C001A190}"/>
              </a:ext>
            </a:extLst>
          </p:cNvPr>
          <p:cNvSpPr txBox="1"/>
          <p:nvPr/>
        </p:nvSpPr>
        <p:spPr>
          <a:xfrm>
            <a:off x="904875" y="3271837"/>
            <a:ext cx="4953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Strength: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High maintainability and semantic cohesion.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6" name="Google Shape;146;p17">
            <a:extLst>
              <a:ext uri="{FF2B5EF4-FFF2-40B4-BE49-F238E27FC236}">
                <a16:creationId xmlns:a16="http://schemas.microsoft.com/office/drawing/2014/main" id="{001BF096-FCFC-E60B-5040-E5FDAF163962}"/>
              </a:ext>
            </a:extLst>
          </p:cNvPr>
          <p:cNvSpPr txBox="1"/>
          <p:nvPr/>
        </p:nvSpPr>
        <p:spPr>
          <a:xfrm>
            <a:off x="904875" y="3700462"/>
            <a:ext cx="4953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Weakness: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Ignores runtime performance.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7" name="Google Shape;147;p17">
            <a:extLst>
              <a:ext uri="{FF2B5EF4-FFF2-40B4-BE49-F238E27FC236}">
                <a16:creationId xmlns:a16="http://schemas.microsoft.com/office/drawing/2014/main" id="{D2FA96B2-C098-281F-22BB-430F5095F106}"/>
              </a:ext>
            </a:extLst>
          </p:cNvPr>
          <p:cNvSpPr txBox="1"/>
          <p:nvPr/>
        </p:nvSpPr>
        <p:spPr>
          <a:xfrm>
            <a:off x="571500" y="2414587"/>
            <a:ext cx="762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8" name="Google Shape;148;p17">
            <a:extLst>
              <a:ext uri="{FF2B5EF4-FFF2-40B4-BE49-F238E27FC236}">
                <a16:creationId xmlns:a16="http://schemas.microsoft.com/office/drawing/2014/main" id="{4BE29218-B125-82C8-F1C0-A3FBCC689A0B}"/>
              </a:ext>
            </a:extLst>
          </p:cNvPr>
          <p:cNvSpPr txBox="1"/>
          <p:nvPr/>
        </p:nvSpPr>
        <p:spPr>
          <a:xfrm>
            <a:off x="571500" y="3128962"/>
            <a:ext cx="762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E6BBD9B9-3E3E-6986-2799-E5860FF2C1F1}"/>
              </a:ext>
            </a:extLst>
          </p:cNvPr>
          <p:cNvSpPr txBox="1"/>
          <p:nvPr/>
        </p:nvSpPr>
        <p:spPr>
          <a:xfrm>
            <a:off x="571500" y="3557587"/>
            <a:ext cx="762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0" name="Google Shape;150;p17">
            <a:extLst>
              <a:ext uri="{FF2B5EF4-FFF2-40B4-BE49-F238E27FC236}">
                <a16:creationId xmlns:a16="http://schemas.microsoft.com/office/drawing/2014/main" id="{9B7554F4-9145-C551-387E-382F0311987A}"/>
              </a:ext>
            </a:extLst>
          </p:cNvPr>
          <p:cNvSpPr txBox="1"/>
          <p:nvPr/>
        </p:nvSpPr>
        <p:spPr>
          <a:xfrm>
            <a:off x="10829925" y="285750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2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1" name="Google Shape;151;p17">
            <a:extLst>
              <a:ext uri="{FF2B5EF4-FFF2-40B4-BE49-F238E27FC236}">
                <a16:creationId xmlns:a16="http://schemas.microsoft.com/office/drawing/2014/main" id="{9BEA29EF-3B09-347C-F9C7-4EDC4F0CDEB0}"/>
              </a:ext>
            </a:extLst>
          </p:cNvPr>
          <p:cNvSpPr txBox="1"/>
          <p:nvPr/>
        </p:nvSpPr>
        <p:spPr>
          <a:xfrm>
            <a:off x="647700" y="912312"/>
            <a:ext cx="116016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Domain-Driven Design (DDD)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52" name="Google Shape;152;p17">
            <a:extLst>
              <a:ext uri="{FF2B5EF4-FFF2-40B4-BE49-F238E27FC236}">
                <a16:creationId xmlns:a16="http://schemas.microsoft.com/office/drawing/2014/main" id="{6E604348-57E3-2600-2BC5-43DEF1702E5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3400" y="1680525"/>
            <a:ext cx="6268599" cy="3468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5624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6">
          <a:extLst>
            <a:ext uri="{FF2B5EF4-FFF2-40B4-BE49-F238E27FC236}">
              <a16:creationId xmlns:a16="http://schemas.microsoft.com/office/drawing/2014/main" id="{83D33880-91F7-5086-72C9-BACCD4683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>
            <a:extLst>
              <a:ext uri="{FF2B5EF4-FFF2-40B4-BE49-F238E27FC236}">
                <a16:creationId xmlns:a16="http://schemas.microsoft.com/office/drawing/2014/main" id="{A37FE4D1-FDD3-850B-FA18-4CCAC26E839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>
            <a:extLst>
              <a:ext uri="{FF2B5EF4-FFF2-40B4-BE49-F238E27FC236}">
                <a16:creationId xmlns:a16="http://schemas.microsoft.com/office/drawing/2014/main" id="{E70FE4D3-6802-5294-3136-CFF3CAA67AB6}"/>
              </a:ext>
            </a:extLst>
          </p:cNvPr>
          <p:cNvSpPr txBox="1"/>
          <p:nvPr/>
        </p:nvSpPr>
        <p:spPr>
          <a:xfrm>
            <a:off x="6334125" y="179546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Structural Partitioning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0" name="Google Shape;160;p18">
            <a:extLst>
              <a:ext uri="{FF2B5EF4-FFF2-40B4-BE49-F238E27FC236}">
                <a16:creationId xmlns:a16="http://schemas.microsoft.com/office/drawing/2014/main" id="{4549E44E-B581-98AA-550A-83DF2DAC5396}"/>
              </a:ext>
            </a:extLst>
          </p:cNvPr>
          <p:cNvSpPr txBox="1"/>
          <p:nvPr/>
        </p:nvSpPr>
        <p:spPr>
          <a:xfrm>
            <a:off x="6334125" y="2014537"/>
            <a:ext cx="52863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Modeling software as a directed graph where nodes are classes and edges are method calls.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56A37EF5-4426-C855-116E-9398AA1C9DB1}"/>
              </a:ext>
            </a:extLst>
          </p:cNvPr>
          <p:cNvSpPr txBox="1"/>
          <p:nvPr/>
        </p:nvSpPr>
        <p:spPr>
          <a:xfrm>
            <a:off x="6667500" y="2776537"/>
            <a:ext cx="4953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Uses PageRank and Betweenness centrality.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2C652014-E818-68DB-86FB-5E9D1C3266E4}"/>
              </a:ext>
            </a:extLst>
          </p:cNvPr>
          <p:cNvSpPr txBox="1"/>
          <p:nvPr/>
        </p:nvSpPr>
        <p:spPr>
          <a:xfrm>
            <a:off x="6667500" y="3205162"/>
            <a:ext cx="4953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Identifies "God Classes" to break bottlenecks.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5BD3ED4F-7C48-A68A-661D-E5C16C4105BB}"/>
              </a:ext>
            </a:extLst>
          </p:cNvPr>
          <p:cNvSpPr txBox="1"/>
          <p:nvPr/>
        </p:nvSpPr>
        <p:spPr>
          <a:xfrm>
            <a:off x="6667500" y="3633787"/>
            <a:ext cx="4953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Focuses on modularity and fine granularity.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4" name="Google Shape;164;p18">
            <a:extLst>
              <a:ext uri="{FF2B5EF4-FFF2-40B4-BE49-F238E27FC236}">
                <a16:creationId xmlns:a16="http://schemas.microsoft.com/office/drawing/2014/main" id="{CF0D1382-AA6C-C6A1-86AB-380EBC67CB79}"/>
              </a:ext>
            </a:extLst>
          </p:cNvPr>
          <p:cNvSpPr txBox="1"/>
          <p:nvPr/>
        </p:nvSpPr>
        <p:spPr>
          <a:xfrm>
            <a:off x="6334125" y="2633662"/>
            <a:ext cx="762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5" name="Google Shape;165;p18">
            <a:extLst>
              <a:ext uri="{FF2B5EF4-FFF2-40B4-BE49-F238E27FC236}">
                <a16:creationId xmlns:a16="http://schemas.microsoft.com/office/drawing/2014/main" id="{FF4E8F65-24F4-D0FF-C220-7140594D0E24}"/>
              </a:ext>
            </a:extLst>
          </p:cNvPr>
          <p:cNvSpPr txBox="1"/>
          <p:nvPr/>
        </p:nvSpPr>
        <p:spPr>
          <a:xfrm>
            <a:off x="6334125" y="3062287"/>
            <a:ext cx="762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6" name="Google Shape;166;p18">
            <a:extLst>
              <a:ext uri="{FF2B5EF4-FFF2-40B4-BE49-F238E27FC236}">
                <a16:creationId xmlns:a16="http://schemas.microsoft.com/office/drawing/2014/main" id="{B60D7FBB-0D02-E258-4766-A654D75C98E2}"/>
              </a:ext>
            </a:extLst>
          </p:cNvPr>
          <p:cNvSpPr txBox="1"/>
          <p:nvPr/>
        </p:nvSpPr>
        <p:spPr>
          <a:xfrm>
            <a:off x="6334125" y="3490912"/>
            <a:ext cx="762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8C105429-0E0D-A73A-E7DB-6FD8042C3CAA}"/>
              </a:ext>
            </a:extLst>
          </p:cNvPr>
          <p:cNvSpPr txBox="1"/>
          <p:nvPr/>
        </p:nvSpPr>
        <p:spPr>
          <a:xfrm>
            <a:off x="10829925" y="285750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2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8" name="Google Shape;168;p18">
            <a:extLst>
              <a:ext uri="{FF2B5EF4-FFF2-40B4-BE49-F238E27FC236}">
                <a16:creationId xmlns:a16="http://schemas.microsoft.com/office/drawing/2014/main" id="{187E079A-8FFE-44CF-B71B-7A25A9A61118}"/>
              </a:ext>
            </a:extLst>
          </p:cNvPr>
          <p:cNvSpPr txBox="1"/>
          <p:nvPr/>
        </p:nvSpPr>
        <p:spPr>
          <a:xfrm>
            <a:off x="590550" y="848611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SNAP &amp; Network Analysis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169" name="Google Shape;169;p18">
            <a:extLst>
              <a:ext uri="{FF2B5EF4-FFF2-40B4-BE49-F238E27FC236}">
                <a16:creationId xmlns:a16="http://schemas.microsoft.com/office/drawing/2014/main" id="{C3F7B2B6-96BB-93BA-A655-71610845E75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1694100"/>
            <a:ext cx="5286375" cy="44998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51529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3">
          <a:extLst>
            <a:ext uri="{FF2B5EF4-FFF2-40B4-BE49-F238E27FC236}">
              <a16:creationId xmlns:a16="http://schemas.microsoft.com/office/drawing/2014/main" id="{BF253A5C-9747-C3BB-3B32-42F4E2148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>
            <a:extLst>
              <a:ext uri="{FF2B5EF4-FFF2-40B4-BE49-F238E27FC236}">
                <a16:creationId xmlns:a16="http://schemas.microsoft.com/office/drawing/2014/main" id="{332AAEE1-A972-BB9B-9F80-66FE8DDE3F83}"/>
              </a:ext>
            </a:extLst>
          </p:cNvPr>
          <p:cNvSpPr txBox="1"/>
          <p:nvPr/>
        </p:nvSpPr>
        <p:spPr>
          <a:xfrm>
            <a:off x="866775" y="2624137"/>
            <a:ext cx="506063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Automated ID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79" name="Google Shape;179;p19">
            <a:extLst>
              <a:ext uri="{FF2B5EF4-FFF2-40B4-BE49-F238E27FC236}">
                <a16:creationId xmlns:a16="http://schemas.microsoft.com/office/drawing/2014/main" id="{BC05A3B7-C0C6-A570-C4D7-4403CCD3982F}"/>
              </a:ext>
            </a:extLst>
          </p:cNvPr>
          <p:cNvSpPr txBox="1"/>
          <p:nvPr/>
        </p:nvSpPr>
        <p:spPr>
          <a:xfrm>
            <a:off x="866775" y="2957512"/>
            <a:ext cx="48196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Using algorithms like DBSCAN and K-Means for unsupervised identification.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80" name="Google Shape;180;p19">
            <a:extLst>
              <a:ext uri="{FF2B5EF4-FFF2-40B4-BE49-F238E27FC236}">
                <a16:creationId xmlns:a16="http://schemas.microsoft.com/office/drawing/2014/main" id="{D0911FAF-CB85-44B2-1C93-080A8910C0FD}"/>
              </a:ext>
            </a:extLst>
          </p:cNvPr>
          <p:cNvSpPr txBox="1"/>
          <p:nvPr/>
        </p:nvSpPr>
        <p:spPr>
          <a:xfrm>
            <a:off x="6505575" y="2624137"/>
            <a:ext cx="506063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Deep Learning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81" name="Google Shape;181;p19">
            <a:extLst>
              <a:ext uri="{FF2B5EF4-FFF2-40B4-BE49-F238E27FC236}">
                <a16:creationId xmlns:a16="http://schemas.microsoft.com/office/drawing/2014/main" id="{461E2CDE-174D-1963-7CB5-0144FA12E6C2}"/>
              </a:ext>
            </a:extLst>
          </p:cNvPr>
          <p:cNvSpPr txBox="1"/>
          <p:nvPr/>
        </p:nvSpPr>
        <p:spPr>
          <a:xfrm>
            <a:off x="6505575" y="2957512"/>
            <a:ext cx="48196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Graph Neural Networks (GNNs) learn latent representations of code.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82" name="Google Shape;182;p19">
            <a:extLst>
              <a:ext uri="{FF2B5EF4-FFF2-40B4-BE49-F238E27FC236}">
                <a16:creationId xmlns:a16="http://schemas.microsoft.com/office/drawing/2014/main" id="{59D8C9B6-3187-2827-2038-2BF4F1D36186}"/>
              </a:ext>
            </a:extLst>
          </p:cNvPr>
          <p:cNvSpPr txBox="1"/>
          <p:nvPr/>
        </p:nvSpPr>
        <p:spPr>
          <a:xfrm>
            <a:off x="866775" y="4348162"/>
            <a:ext cx="109813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Gap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83" name="Google Shape;183;p19">
            <a:extLst>
              <a:ext uri="{FF2B5EF4-FFF2-40B4-BE49-F238E27FC236}">
                <a16:creationId xmlns:a16="http://schemas.microsoft.com/office/drawing/2014/main" id="{1B0A3CE8-C83C-E390-10E8-C4F87E542972}"/>
              </a:ext>
            </a:extLst>
          </p:cNvPr>
          <p:cNvSpPr txBox="1"/>
          <p:nvPr/>
        </p:nvSpPr>
        <p:spPr>
          <a:xfrm>
            <a:off x="866775" y="4681537"/>
            <a:ext cx="104584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Technical coupling methods often create "Distributed Monoliths" because they ignore the business context and organizational structure.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84" name="Google Shape;184;p19">
            <a:extLst>
              <a:ext uri="{FF2B5EF4-FFF2-40B4-BE49-F238E27FC236}">
                <a16:creationId xmlns:a16="http://schemas.microsoft.com/office/drawing/2014/main" id="{70403AF5-1D0C-E49F-7273-DB4A67A8771D}"/>
              </a:ext>
            </a:extLst>
          </p:cNvPr>
          <p:cNvSpPr txBox="1"/>
          <p:nvPr/>
        </p:nvSpPr>
        <p:spPr>
          <a:xfrm>
            <a:off x="10829925" y="285750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2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85" name="Google Shape;185;p19">
            <a:extLst>
              <a:ext uri="{FF2B5EF4-FFF2-40B4-BE49-F238E27FC236}">
                <a16:creationId xmlns:a16="http://schemas.microsoft.com/office/drawing/2014/main" id="{90E4F295-9FA2-F569-B881-590617F076DF}"/>
              </a:ext>
            </a:extLst>
          </p:cNvPr>
          <p:cNvSpPr txBox="1"/>
          <p:nvPr/>
        </p:nvSpPr>
        <p:spPr>
          <a:xfrm>
            <a:off x="556736" y="996731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ML &amp; Graph Clustering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71B44397-732C-027E-9AC0-F80D003CACB4}"/>
              </a:ext>
            </a:extLst>
          </p:cNvPr>
          <p:cNvSpPr/>
          <p:nvPr/>
        </p:nvSpPr>
        <p:spPr>
          <a:xfrm>
            <a:off x="571500" y="2328862"/>
            <a:ext cx="5410200" cy="1495425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84F608B3-4B6C-F86A-1D53-102A10AFB487}"/>
              </a:ext>
            </a:extLst>
          </p:cNvPr>
          <p:cNvSpPr/>
          <p:nvPr/>
        </p:nvSpPr>
        <p:spPr>
          <a:xfrm>
            <a:off x="6210300" y="2328862"/>
            <a:ext cx="5410200" cy="1495425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2A8FCF0F-1A15-4349-CD36-3308587305BD}"/>
              </a:ext>
            </a:extLst>
          </p:cNvPr>
          <p:cNvSpPr/>
          <p:nvPr/>
        </p:nvSpPr>
        <p:spPr>
          <a:xfrm>
            <a:off x="556736" y="4052887"/>
            <a:ext cx="11063764" cy="1495425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4905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89">
          <a:extLst>
            <a:ext uri="{FF2B5EF4-FFF2-40B4-BE49-F238E27FC236}">
              <a16:creationId xmlns:a16="http://schemas.microsoft.com/office/drawing/2014/main" id="{8136D357-79E9-7092-AEC1-6EC63503D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>
            <a:extLst>
              <a:ext uri="{FF2B5EF4-FFF2-40B4-BE49-F238E27FC236}">
                <a16:creationId xmlns:a16="http://schemas.microsoft.com/office/drawing/2014/main" id="{C25F93C8-37BD-CB1E-DFEF-D504B41D48A5}"/>
              </a:ext>
            </a:extLst>
          </p:cNvPr>
          <p:cNvSpPr txBox="1"/>
          <p:nvPr/>
        </p:nvSpPr>
        <p:spPr>
          <a:xfrm>
            <a:off x="571500" y="2733675"/>
            <a:ext cx="528637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6x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2" name="Google Shape;192;p20">
            <a:extLst>
              <a:ext uri="{FF2B5EF4-FFF2-40B4-BE49-F238E27FC236}">
                <a16:creationId xmlns:a16="http://schemas.microsoft.com/office/drawing/2014/main" id="{2E6074B3-26FA-6B5B-EEAA-005FC14C3308}"/>
              </a:ext>
            </a:extLst>
          </p:cNvPr>
          <p:cNvSpPr txBox="1"/>
          <p:nvPr/>
        </p:nvSpPr>
        <p:spPr>
          <a:xfrm>
            <a:off x="571500" y="4067175"/>
            <a:ext cx="52863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Infrastructure Cost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3" name="Google Shape;193;p20">
            <a:extLst>
              <a:ext uri="{FF2B5EF4-FFF2-40B4-BE49-F238E27FC236}">
                <a16:creationId xmlns:a16="http://schemas.microsoft.com/office/drawing/2014/main" id="{B6557085-4110-2E7E-7267-06AE9E387E17}"/>
              </a:ext>
            </a:extLst>
          </p:cNvPr>
          <p:cNvSpPr txBox="1"/>
          <p:nvPr/>
        </p:nvSpPr>
        <p:spPr>
          <a:xfrm>
            <a:off x="6334125" y="273367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Economic Constraints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4" name="Google Shape;194;p20">
            <a:extLst>
              <a:ext uri="{FF2B5EF4-FFF2-40B4-BE49-F238E27FC236}">
                <a16:creationId xmlns:a16="http://schemas.microsoft.com/office/drawing/2014/main" id="{258B53BE-E5C6-FE5B-8E31-70D1FF62B7C5}"/>
              </a:ext>
            </a:extLst>
          </p:cNvPr>
          <p:cNvSpPr txBox="1"/>
          <p:nvPr/>
        </p:nvSpPr>
        <p:spPr>
          <a:xfrm>
            <a:off x="6334125" y="2952750"/>
            <a:ext cx="52863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Operational costs are estimated 3.75x to 6x higher than monoliths. This drives the "Right-Sizing" imperative.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5" name="Google Shape;195;p20">
            <a:extLst>
              <a:ext uri="{FF2B5EF4-FFF2-40B4-BE49-F238E27FC236}">
                <a16:creationId xmlns:a16="http://schemas.microsoft.com/office/drawing/2014/main" id="{4FFEBFDE-F626-523C-5974-1823BABC5493}"/>
              </a:ext>
            </a:extLst>
          </p:cNvPr>
          <p:cNvSpPr txBox="1"/>
          <p:nvPr/>
        </p:nvSpPr>
        <p:spPr>
          <a:xfrm>
            <a:off x="6667500" y="3714750"/>
            <a:ext cx="49530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Granularity Saturation: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Point where new services cost more than they benefit.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6" name="Google Shape;196;p20">
            <a:extLst>
              <a:ext uri="{FF2B5EF4-FFF2-40B4-BE49-F238E27FC236}">
                <a16:creationId xmlns:a16="http://schemas.microsoft.com/office/drawing/2014/main" id="{F3113714-2C36-F5B7-E24C-6CBC2EEECCFF}"/>
              </a:ext>
            </a:extLst>
          </p:cNvPr>
          <p:cNvSpPr txBox="1"/>
          <p:nvPr/>
        </p:nvSpPr>
        <p:spPr>
          <a:xfrm>
            <a:off x="6667500" y="4429125"/>
            <a:ext cx="49530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The Great Consolidation: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2025 trend toward merging chatty services.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7" name="Google Shape;197;p20">
            <a:extLst>
              <a:ext uri="{FF2B5EF4-FFF2-40B4-BE49-F238E27FC236}">
                <a16:creationId xmlns:a16="http://schemas.microsoft.com/office/drawing/2014/main" id="{588C276D-8AE8-36F0-1CFA-B2CEE78FD9FF}"/>
              </a:ext>
            </a:extLst>
          </p:cNvPr>
          <p:cNvSpPr txBox="1"/>
          <p:nvPr/>
        </p:nvSpPr>
        <p:spPr>
          <a:xfrm>
            <a:off x="6334125" y="3571875"/>
            <a:ext cx="762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8" name="Google Shape;198;p20">
            <a:extLst>
              <a:ext uri="{FF2B5EF4-FFF2-40B4-BE49-F238E27FC236}">
                <a16:creationId xmlns:a16="http://schemas.microsoft.com/office/drawing/2014/main" id="{DB0166BC-E20F-D6D2-8AC6-E149D1C923FD}"/>
              </a:ext>
            </a:extLst>
          </p:cNvPr>
          <p:cNvSpPr txBox="1"/>
          <p:nvPr/>
        </p:nvSpPr>
        <p:spPr>
          <a:xfrm>
            <a:off x="6334125" y="4286250"/>
            <a:ext cx="762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9" name="Google Shape;199;p20">
            <a:extLst>
              <a:ext uri="{FF2B5EF4-FFF2-40B4-BE49-F238E27FC236}">
                <a16:creationId xmlns:a16="http://schemas.microsoft.com/office/drawing/2014/main" id="{1CBDF285-F810-7613-B45B-D2ED50E2D393}"/>
              </a:ext>
            </a:extLst>
          </p:cNvPr>
          <p:cNvSpPr txBox="1"/>
          <p:nvPr/>
        </p:nvSpPr>
        <p:spPr>
          <a:xfrm>
            <a:off x="10829925" y="285750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2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00" name="Google Shape;200;p20">
            <a:extLst>
              <a:ext uri="{FF2B5EF4-FFF2-40B4-BE49-F238E27FC236}">
                <a16:creationId xmlns:a16="http://schemas.microsoft.com/office/drawing/2014/main" id="{5223DE36-C91A-C813-D9CC-C1573FCA6964}"/>
              </a:ext>
            </a:extLst>
          </p:cNvPr>
          <p:cNvSpPr txBox="1"/>
          <p:nvPr/>
        </p:nvSpPr>
        <p:spPr>
          <a:xfrm>
            <a:off x="590550" y="1066800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Microservices Premium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7849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04">
          <a:extLst>
            <a:ext uri="{FF2B5EF4-FFF2-40B4-BE49-F238E27FC236}">
              <a16:creationId xmlns:a16="http://schemas.microsoft.com/office/drawing/2014/main" id="{4FCD8F99-0139-ECE7-B28B-A3E2C1F56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>
            <a:extLst>
              <a:ext uri="{FF2B5EF4-FFF2-40B4-BE49-F238E27FC236}">
                <a16:creationId xmlns:a16="http://schemas.microsoft.com/office/drawing/2014/main" id="{3E72297D-1A85-032F-ACF6-4D620BC8828E}"/>
              </a:ext>
            </a:extLst>
          </p:cNvPr>
          <p:cNvSpPr txBox="1"/>
          <p:nvPr/>
        </p:nvSpPr>
        <p:spPr>
          <a:xfrm>
            <a:off x="866775" y="2928937"/>
            <a:ext cx="109813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3-Phase Processing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10" name="Google Shape;210;p21">
            <a:extLst>
              <a:ext uri="{FF2B5EF4-FFF2-40B4-BE49-F238E27FC236}">
                <a16:creationId xmlns:a16="http://schemas.microsoft.com/office/drawing/2014/main" id="{A4AC01D8-DCF5-3DDE-B704-78ED9AEC0559}"/>
              </a:ext>
            </a:extLst>
          </p:cNvPr>
          <p:cNvSpPr txBox="1"/>
          <p:nvPr/>
        </p:nvSpPr>
        <p:spPr>
          <a:xfrm>
            <a:off x="866775" y="3262312"/>
            <a:ext cx="104584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How we ingest signals to produce architectural recommendations.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11" name="Google Shape;211;p21">
            <a:extLst>
              <a:ext uri="{FF2B5EF4-FFF2-40B4-BE49-F238E27FC236}">
                <a16:creationId xmlns:a16="http://schemas.microsoft.com/office/drawing/2014/main" id="{2D3CD87E-E8FB-D422-ED9D-1A7CB846F090}"/>
              </a:ext>
            </a:extLst>
          </p:cNvPr>
          <p:cNvSpPr txBox="1"/>
          <p:nvPr/>
        </p:nvSpPr>
        <p:spPr>
          <a:xfrm>
            <a:off x="866775" y="4329112"/>
            <a:ext cx="506063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1. Ingestion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12" name="Google Shape;212;p21">
            <a:extLst>
              <a:ext uri="{FF2B5EF4-FFF2-40B4-BE49-F238E27FC236}">
                <a16:creationId xmlns:a16="http://schemas.microsoft.com/office/drawing/2014/main" id="{26C12ECF-5B70-5AB7-4871-685B079EC8B6}"/>
              </a:ext>
            </a:extLst>
          </p:cNvPr>
          <p:cNvSpPr txBox="1"/>
          <p:nvPr/>
        </p:nvSpPr>
        <p:spPr>
          <a:xfrm>
            <a:off x="866775" y="4662487"/>
            <a:ext cx="48196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Static code, runtime traces, and Git history.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13" name="Google Shape;213;p21">
            <a:extLst>
              <a:ext uri="{FF2B5EF4-FFF2-40B4-BE49-F238E27FC236}">
                <a16:creationId xmlns:a16="http://schemas.microsoft.com/office/drawing/2014/main" id="{98A6AE4D-9D21-EED0-8F26-1DF7BC994A32}"/>
              </a:ext>
            </a:extLst>
          </p:cNvPr>
          <p:cNvSpPr txBox="1"/>
          <p:nvPr/>
        </p:nvSpPr>
        <p:spPr>
          <a:xfrm>
            <a:off x="6505575" y="4329112"/>
            <a:ext cx="506063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2. Scoring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14" name="Google Shape;214;p21">
            <a:extLst>
              <a:ext uri="{FF2B5EF4-FFF2-40B4-BE49-F238E27FC236}">
                <a16:creationId xmlns:a16="http://schemas.microsoft.com/office/drawing/2014/main" id="{FF0E75E6-EBB3-8D29-766D-55AF12A1B712}"/>
              </a:ext>
            </a:extLst>
          </p:cNvPr>
          <p:cNvSpPr txBox="1"/>
          <p:nvPr/>
        </p:nvSpPr>
        <p:spPr>
          <a:xfrm>
            <a:off x="6505575" y="4662487"/>
            <a:ext cx="48196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Multi-signal affinity mapping between service units.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15" name="Google Shape;215;p21">
            <a:extLst>
              <a:ext uri="{FF2B5EF4-FFF2-40B4-BE49-F238E27FC236}">
                <a16:creationId xmlns:a16="http://schemas.microsoft.com/office/drawing/2014/main" id="{6ACB3035-1CED-CB8F-CB45-B0EA2F5541E9}"/>
              </a:ext>
            </a:extLst>
          </p:cNvPr>
          <p:cNvSpPr txBox="1"/>
          <p:nvPr/>
        </p:nvSpPr>
        <p:spPr>
          <a:xfrm>
            <a:off x="10839450" y="285750"/>
            <a:ext cx="7810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16" name="Google Shape;216;p21">
            <a:extLst>
              <a:ext uri="{FF2B5EF4-FFF2-40B4-BE49-F238E27FC236}">
                <a16:creationId xmlns:a16="http://schemas.microsoft.com/office/drawing/2014/main" id="{3C2534F6-1C7D-9A1F-857A-54725909E02B}"/>
              </a:ext>
            </a:extLst>
          </p:cNvPr>
          <p:cNvSpPr txBox="1"/>
          <p:nvPr/>
        </p:nvSpPr>
        <p:spPr>
          <a:xfrm>
            <a:off x="571500" y="1101506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GODF Pipeline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19B7EA72-609D-0EE5-CE93-4543F678C566}"/>
              </a:ext>
            </a:extLst>
          </p:cNvPr>
          <p:cNvSpPr/>
          <p:nvPr/>
        </p:nvSpPr>
        <p:spPr>
          <a:xfrm>
            <a:off x="571500" y="2633662"/>
            <a:ext cx="11049000" cy="1209675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FD407F5D-4EB8-D9D2-BFDA-FB7BF0160A9B}"/>
              </a:ext>
            </a:extLst>
          </p:cNvPr>
          <p:cNvSpPr/>
          <p:nvPr/>
        </p:nvSpPr>
        <p:spPr>
          <a:xfrm>
            <a:off x="571500" y="4033837"/>
            <a:ext cx="5410200" cy="1209675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3523E7AC-4C18-EB8E-D56C-149E8F8B8077}"/>
              </a:ext>
            </a:extLst>
          </p:cNvPr>
          <p:cNvSpPr/>
          <p:nvPr/>
        </p:nvSpPr>
        <p:spPr>
          <a:xfrm>
            <a:off x="6210300" y="4033837"/>
            <a:ext cx="5410200" cy="1209675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8272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0">
          <a:extLst>
            <a:ext uri="{FF2B5EF4-FFF2-40B4-BE49-F238E27FC236}">
              <a16:creationId xmlns:a16="http://schemas.microsoft.com/office/drawing/2014/main" id="{1D4303AD-E6DA-16BE-1622-0E1D5E4F5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>
            <a:extLst>
              <a:ext uri="{FF2B5EF4-FFF2-40B4-BE49-F238E27FC236}">
                <a16:creationId xmlns:a16="http://schemas.microsoft.com/office/drawing/2014/main" id="{11AD32F0-F0B7-18CA-925D-69CF9910F886}"/>
              </a:ext>
            </a:extLst>
          </p:cNvPr>
          <p:cNvSpPr txBox="1"/>
          <p:nvPr/>
        </p:nvSpPr>
        <p:spPr>
          <a:xfrm>
            <a:off x="904875" y="3009900"/>
            <a:ext cx="49530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Static Coupling: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Class imports and data-model dependencies.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4" name="Google Shape;224;p22">
            <a:extLst>
              <a:ext uri="{FF2B5EF4-FFF2-40B4-BE49-F238E27FC236}">
                <a16:creationId xmlns:a16="http://schemas.microsoft.com/office/drawing/2014/main" id="{F4675BD0-0B62-E2BC-023A-B6F0B07C3DA5}"/>
              </a:ext>
            </a:extLst>
          </p:cNvPr>
          <p:cNvSpPr txBox="1"/>
          <p:nvPr/>
        </p:nvSpPr>
        <p:spPr>
          <a:xfrm>
            <a:off x="904875" y="3724275"/>
            <a:ext cx="49530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Runtime Frequency: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Synchronous call volume between modules.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5" name="Google Shape;225;p22">
            <a:extLst>
              <a:ext uri="{FF2B5EF4-FFF2-40B4-BE49-F238E27FC236}">
                <a16:creationId xmlns:a16="http://schemas.microsoft.com/office/drawing/2014/main" id="{89E9F135-4C9C-03FC-446F-4B95A73741EC}"/>
              </a:ext>
            </a:extLst>
          </p:cNvPr>
          <p:cNvSpPr txBox="1"/>
          <p:nvPr/>
        </p:nvSpPr>
        <p:spPr>
          <a:xfrm>
            <a:off x="904875" y="4438650"/>
            <a:ext cx="4953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Team Signals: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Authorship overlap from version-control.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6" name="Google Shape;226;p22">
            <a:extLst>
              <a:ext uri="{FF2B5EF4-FFF2-40B4-BE49-F238E27FC236}">
                <a16:creationId xmlns:a16="http://schemas.microsoft.com/office/drawing/2014/main" id="{56E11D89-C675-715A-F8E2-41AD49B8E4A8}"/>
              </a:ext>
            </a:extLst>
          </p:cNvPr>
          <p:cNvSpPr txBox="1"/>
          <p:nvPr/>
        </p:nvSpPr>
        <p:spPr>
          <a:xfrm>
            <a:off x="6629400" y="3305175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Affinity Threshold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7" name="Google Shape;227;p22">
            <a:extLst>
              <a:ext uri="{FF2B5EF4-FFF2-40B4-BE49-F238E27FC236}">
                <a16:creationId xmlns:a16="http://schemas.microsoft.com/office/drawing/2014/main" id="{FB441D02-0FB9-8D7D-E12B-51F7C1A23722}"/>
              </a:ext>
            </a:extLst>
          </p:cNvPr>
          <p:cNvSpPr txBox="1"/>
          <p:nvPr/>
        </p:nvSpPr>
        <p:spPr>
          <a:xfrm>
            <a:off x="6629400" y="3638550"/>
            <a:ext cx="4695825" cy="6924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Units with θ &gt; 50 calls/s are candidates for consolidation</a:t>
            </a:r>
            <a:r>
              <a:rPr lang="ar-EG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to eliminate distribution tax.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8" name="Google Shape;228;p22">
            <a:extLst>
              <a:ext uri="{FF2B5EF4-FFF2-40B4-BE49-F238E27FC236}">
                <a16:creationId xmlns:a16="http://schemas.microsoft.com/office/drawing/2014/main" id="{D28C4AD5-C9DB-54D5-129D-296812FB8021}"/>
              </a:ext>
            </a:extLst>
          </p:cNvPr>
          <p:cNvSpPr txBox="1"/>
          <p:nvPr/>
        </p:nvSpPr>
        <p:spPr>
          <a:xfrm>
            <a:off x="571500" y="2867025"/>
            <a:ext cx="762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29" name="Google Shape;229;p22">
            <a:extLst>
              <a:ext uri="{FF2B5EF4-FFF2-40B4-BE49-F238E27FC236}">
                <a16:creationId xmlns:a16="http://schemas.microsoft.com/office/drawing/2014/main" id="{85B29997-C174-ED8B-AEAA-C5F0F9B36BCD}"/>
              </a:ext>
            </a:extLst>
          </p:cNvPr>
          <p:cNvSpPr txBox="1"/>
          <p:nvPr/>
        </p:nvSpPr>
        <p:spPr>
          <a:xfrm>
            <a:off x="571500" y="3581400"/>
            <a:ext cx="762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0" name="Google Shape;230;p22">
            <a:extLst>
              <a:ext uri="{FF2B5EF4-FFF2-40B4-BE49-F238E27FC236}">
                <a16:creationId xmlns:a16="http://schemas.microsoft.com/office/drawing/2014/main" id="{93DE2323-F66D-85D7-88D6-5FD40BD1208B}"/>
              </a:ext>
            </a:extLst>
          </p:cNvPr>
          <p:cNvSpPr txBox="1"/>
          <p:nvPr/>
        </p:nvSpPr>
        <p:spPr>
          <a:xfrm>
            <a:off x="571500" y="4295775"/>
            <a:ext cx="762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1" name="Google Shape;231;p22">
            <a:extLst>
              <a:ext uri="{FF2B5EF4-FFF2-40B4-BE49-F238E27FC236}">
                <a16:creationId xmlns:a16="http://schemas.microsoft.com/office/drawing/2014/main" id="{DDCD199C-F28F-CB20-86D3-55CF7CD014FE}"/>
              </a:ext>
            </a:extLst>
          </p:cNvPr>
          <p:cNvSpPr txBox="1"/>
          <p:nvPr/>
        </p:nvSpPr>
        <p:spPr>
          <a:xfrm>
            <a:off x="10839450" y="285750"/>
            <a:ext cx="7810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2" name="Google Shape;232;p22">
            <a:extLst>
              <a:ext uri="{FF2B5EF4-FFF2-40B4-BE49-F238E27FC236}">
                <a16:creationId xmlns:a16="http://schemas.microsoft.com/office/drawing/2014/main" id="{5D17BB24-087C-82FF-A39C-13ECD8A7B58A}"/>
              </a:ext>
            </a:extLst>
          </p:cNvPr>
          <p:cNvSpPr txBox="1"/>
          <p:nvPr/>
        </p:nvSpPr>
        <p:spPr>
          <a:xfrm>
            <a:off x="590550" y="1315819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Multi-Signal Scoring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DD4E82CB-1628-0BDD-5E1F-26F5B36A196E}"/>
              </a:ext>
            </a:extLst>
          </p:cNvPr>
          <p:cNvSpPr/>
          <p:nvPr/>
        </p:nvSpPr>
        <p:spPr>
          <a:xfrm>
            <a:off x="6537960" y="3646084"/>
            <a:ext cx="4876800" cy="770688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EC9E4D5D-47E6-AF76-242F-1C496A94CFEE}"/>
              </a:ext>
            </a:extLst>
          </p:cNvPr>
          <p:cNvSpPr/>
          <p:nvPr/>
        </p:nvSpPr>
        <p:spPr>
          <a:xfrm>
            <a:off x="6333744" y="3009900"/>
            <a:ext cx="5286756" cy="1885951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8306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36">
          <a:extLst>
            <a:ext uri="{FF2B5EF4-FFF2-40B4-BE49-F238E27FC236}">
              <a16:creationId xmlns:a16="http://schemas.microsoft.com/office/drawing/2014/main" id="{9E098CCE-4C29-6859-74C6-4EB581B40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">
            <a:extLst>
              <a:ext uri="{FF2B5EF4-FFF2-40B4-BE49-F238E27FC236}">
                <a16:creationId xmlns:a16="http://schemas.microsoft.com/office/drawing/2014/main" id="{78222020-AE67-7346-2051-3FC1FAC4DF48}"/>
              </a:ext>
            </a:extLst>
          </p:cNvPr>
          <p:cNvSpPr txBox="1"/>
          <p:nvPr/>
        </p:nvSpPr>
        <p:spPr>
          <a:xfrm>
            <a:off x="5029200" y="285750"/>
            <a:ext cx="7810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9" name="Google Shape;239;p23">
            <a:extLst>
              <a:ext uri="{FF2B5EF4-FFF2-40B4-BE49-F238E27FC236}">
                <a16:creationId xmlns:a16="http://schemas.microsoft.com/office/drawing/2014/main" id="{0A01EF42-E050-2AEE-D11D-08919A3F7100}"/>
              </a:ext>
            </a:extLst>
          </p:cNvPr>
          <p:cNvSpPr txBox="1"/>
          <p:nvPr/>
        </p:nvSpPr>
        <p:spPr>
          <a:xfrm>
            <a:off x="571500" y="1017150"/>
            <a:ext cx="520065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Database Connectivity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40" name="Google Shape;240;p23">
            <a:extLst>
              <a:ext uri="{FF2B5EF4-FFF2-40B4-BE49-F238E27FC236}">
                <a16:creationId xmlns:a16="http://schemas.microsoft.com/office/drawing/2014/main" id="{66349E3C-EF12-CE6F-B941-DB8868843C61}"/>
              </a:ext>
            </a:extLst>
          </p:cNvPr>
          <p:cNvSpPr txBox="1"/>
          <p:nvPr/>
        </p:nvSpPr>
        <p:spPr>
          <a:xfrm>
            <a:off x="571500" y="2805112"/>
            <a:ext cx="49530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A critical view of granularity is data ownership. GODF ingests shared data-model metrics to avoid "Data Coupling".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41" name="Google Shape;241;p23">
            <a:extLst>
              <a:ext uri="{FF2B5EF4-FFF2-40B4-BE49-F238E27FC236}">
                <a16:creationId xmlns:a16="http://schemas.microsoft.com/office/drawing/2014/main" id="{D2DEACF3-4C6E-0708-6CA6-90EB38E77426}"/>
              </a:ext>
            </a:extLst>
          </p:cNvPr>
          <p:cNvSpPr txBox="1"/>
          <p:nvPr/>
        </p:nvSpPr>
        <p:spPr>
          <a:xfrm>
            <a:off x="904875" y="3852862"/>
            <a:ext cx="46196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Database per Service: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Ensures loose coupling.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42" name="Google Shape;242;p23">
            <a:extLst>
              <a:ext uri="{FF2B5EF4-FFF2-40B4-BE49-F238E27FC236}">
                <a16:creationId xmlns:a16="http://schemas.microsoft.com/office/drawing/2014/main" id="{0072BD15-8D59-00B9-CC6A-F739D48E6A08}"/>
              </a:ext>
            </a:extLst>
          </p:cNvPr>
          <p:cNvSpPr txBox="1"/>
          <p:nvPr/>
        </p:nvSpPr>
        <p:spPr>
          <a:xfrm>
            <a:off x="904875" y="4281487"/>
            <a:ext cx="461962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Shared Database: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A common anti-pattern that creates distributed monoliths.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43" name="Google Shape;243;p23">
            <a:extLst>
              <a:ext uri="{FF2B5EF4-FFF2-40B4-BE49-F238E27FC236}">
                <a16:creationId xmlns:a16="http://schemas.microsoft.com/office/drawing/2014/main" id="{5485E211-9FAF-ABD8-5514-15929FC71DDD}"/>
              </a:ext>
            </a:extLst>
          </p:cNvPr>
          <p:cNvSpPr txBox="1"/>
          <p:nvPr/>
        </p:nvSpPr>
        <p:spPr>
          <a:xfrm>
            <a:off x="904875" y="4995862"/>
            <a:ext cx="461962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Data Weight (w8):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Ingested to detect cross-domain table dependencies.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44" name="Google Shape;244;p23">
            <a:extLst>
              <a:ext uri="{FF2B5EF4-FFF2-40B4-BE49-F238E27FC236}">
                <a16:creationId xmlns:a16="http://schemas.microsoft.com/office/drawing/2014/main" id="{CF52CD44-A4A3-049A-1F08-4DCB6C466502}"/>
              </a:ext>
            </a:extLst>
          </p:cNvPr>
          <p:cNvSpPr txBox="1"/>
          <p:nvPr/>
        </p:nvSpPr>
        <p:spPr>
          <a:xfrm>
            <a:off x="571500" y="3709987"/>
            <a:ext cx="762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245" name="Google Shape;245;p23">
            <a:extLst>
              <a:ext uri="{FF2B5EF4-FFF2-40B4-BE49-F238E27FC236}">
                <a16:creationId xmlns:a16="http://schemas.microsoft.com/office/drawing/2014/main" id="{FF3CA889-3547-0406-D772-7C18B07F4DCF}"/>
              </a:ext>
            </a:extLst>
          </p:cNvPr>
          <p:cNvSpPr txBox="1"/>
          <p:nvPr/>
        </p:nvSpPr>
        <p:spPr>
          <a:xfrm>
            <a:off x="571500" y="4138612"/>
            <a:ext cx="762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46" name="Google Shape;246;p23">
            <a:extLst>
              <a:ext uri="{FF2B5EF4-FFF2-40B4-BE49-F238E27FC236}">
                <a16:creationId xmlns:a16="http://schemas.microsoft.com/office/drawing/2014/main" id="{CA533D4E-71C8-0E04-1576-9EB8178A315B}"/>
              </a:ext>
            </a:extLst>
          </p:cNvPr>
          <p:cNvSpPr txBox="1"/>
          <p:nvPr/>
        </p:nvSpPr>
        <p:spPr>
          <a:xfrm>
            <a:off x="571500" y="4852987"/>
            <a:ext cx="762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247" name="Google Shape;247;p23">
            <a:extLst>
              <a:ext uri="{FF2B5EF4-FFF2-40B4-BE49-F238E27FC236}">
                <a16:creationId xmlns:a16="http://schemas.microsoft.com/office/drawing/2014/main" id="{BA72C914-9D34-0CE4-0C75-98B9F9A5160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4850" y="719125"/>
            <a:ext cx="5695426" cy="57102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6653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1">
          <a:extLst>
            <a:ext uri="{FF2B5EF4-FFF2-40B4-BE49-F238E27FC236}">
              <a16:creationId xmlns:a16="http://schemas.microsoft.com/office/drawing/2014/main" id="{04A407D7-FCA9-C1E6-D730-D1F79DDFB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4" descr="image.png">
            <a:extLst>
              <a:ext uri="{FF2B5EF4-FFF2-40B4-BE49-F238E27FC236}">
                <a16:creationId xmlns:a16="http://schemas.microsoft.com/office/drawing/2014/main" id="{B26C29EB-E228-7A92-8205-2A889E83DC0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633787"/>
            <a:ext cx="570160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>
            <a:extLst>
              <a:ext uri="{FF2B5EF4-FFF2-40B4-BE49-F238E27FC236}">
                <a16:creationId xmlns:a16="http://schemas.microsoft.com/office/drawing/2014/main" id="{29483F1A-7E18-60C1-CAFD-2B1F587BD79B}"/>
              </a:ext>
            </a:extLst>
          </p:cNvPr>
          <p:cNvSpPr txBox="1"/>
          <p:nvPr/>
        </p:nvSpPr>
        <p:spPr>
          <a:xfrm>
            <a:off x="571500" y="415766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Maximize Benefit (P)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56" name="Google Shape;256;p24">
            <a:extLst>
              <a:ext uri="{FF2B5EF4-FFF2-40B4-BE49-F238E27FC236}">
                <a16:creationId xmlns:a16="http://schemas.microsoft.com/office/drawing/2014/main" id="{7ADAC606-4E9A-7F7A-0D51-0B3E8388C955}"/>
              </a:ext>
            </a:extLst>
          </p:cNvPr>
          <p:cNvSpPr txBox="1"/>
          <p:nvPr/>
        </p:nvSpPr>
        <p:spPr>
          <a:xfrm>
            <a:off x="571500" y="4376737"/>
            <a:ext cx="52863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Performance + Stability + Business Value.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57" name="Google Shape;257;p24">
            <a:extLst>
              <a:ext uri="{FF2B5EF4-FFF2-40B4-BE49-F238E27FC236}">
                <a16:creationId xmlns:a16="http://schemas.microsoft.com/office/drawing/2014/main" id="{6202471C-EFD2-31A6-7B6C-1EEF9ABADB96}"/>
              </a:ext>
            </a:extLst>
          </p:cNvPr>
          <p:cNvSpPr txBox="1"/>
          <p:nvPr/>
        </p:nvSpPr>
        <p:spPr>
          <a:xfrm>
            <a:off x="6334125" y="415766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Minimize Cost (J)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58" name="Google Shape;258;p24">
            <a:extLst>
              <a:ext uri="{FF2B5EF4-FFF2-40B4-BE49-F238E27FC236}">
                <a16:creationId xmlns:a16="http://schemas.microsoft.com/office/drawing/2014/main" id="{5AC53E2E-0EB4-6BB5-923D-1B932F7D0711}"/>
              </a:ext>
            </a:extLst>
          </p:cNvPr>
          <p:cNvSpPr txBox="1"/>
          <p:nvPr/>
        </p:nvSpPr>
        <p:spPr>
          <a:xfrm>
            <a:off x="6334125" y="4376737"/>
            <a:ext cx="52863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Infrastructure + Latency + Complexity.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59" name="Google Shape;259;p24">
            <a:extLst>
              <a:ext uri="{FF2B5EF4-FFF2-40B4-BE49-F238E27FC236}">
                <a16:creationId xmlns:a16="http://schemas.microsoft.com/office/drawing/2014/main" id="{E02EA0B0-ADBC-8266-23F0-2504AF07AF16}"/>
              </a:ext>
            </a:extLst>
          </p:cNvPr>
          <p:cNvSpPr txBox="1"/>
          <p:nvPr/>
        </p:nvSpPr>
        <p:spPr>
          <a:xfrm>
            <a:off x="10839450" y="285750"/>
            <a:ext cx="7810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60" name="Google Shape;260;p24">
            <a:extLst>
              <a:ext uri="{FF2B5EF4-FFF2-40B4-BE49-F238E27FC236}">
                <a16:creationId xmlns:a16="http://schemas.microsoft.com/office/drawing/2014/main" id="{BF557777-4617-B1E4-A8C3-F2588DEEE098}"/>
              </a:ext>
            </a:extLst>
          </p:cNvPr>
          <p:cNvSpPr txBox="1"/>
          <p:nvPr/>
        </p:nvSpPr>
        <p:spPr>
          <a:xfrm>
            <a:off x="533400" y="1027852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Optimization Objective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1FF92A-1E3A-12D1-E0A8-667BB8CCAF44}"/>
              </a:ext>
            </a:extLst>
          </p:cNvPr>
          <p:cNvSpPr txBox="1"/>
          <p:nvPr/>
        </p:nvSpPr>
        <p:spPr>
          <a:xfrm>
            <a:off x="762000" y="3529177"/>
            <a:ext cx="1877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F=P-J</a:t>
            </a:r>
            <a:endParaRPr lang="en-GB" b="1" dirty="0">
              <a:solidFill>
                <a:schemeClr val="tx1"/>
              </a:solidFill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0015A5E4-4072-49CF-8273-A22F2C1E1256}"/>
              </a:ext>
            </a:extLst>
          </p:cNvPr>
          <p:cNvSpPr/>
          <p:nvPr/>
        </p:nvSpPr>
        <p:spPr>
          <a:xfrm>
            <a:off x="571500" y="3405187"/>
            <a:ext cx="7343468" cy="561975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14140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76">
          <a:extLst>
            <a:ext uri="{FF2B5EF4-FFF2-40B4-BE49-F238E27FC236}">
              <a16:creationId xmlns:a16="http://schemas.microsoft.com/office/drawing/2014/main" id="{462C144E-1B47-DF62-C630-FA3C6A49A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>
            <a:extLst>
              <a:ext uri="{FF2B5EF4-FFF2-40B4-BE49-F238E27FC236}">
                <a16:creationId xmlns:a16="http://schemas.microsoft.com/office/drawing/2014/main" id="{D048A7C3-C235-9A20-4754-D3173B0D330F}"/>
              </a:ext>
            </a:extLst>
          </p:cNvPr>
          <p:cNvSpPr txBox="1"/>
          <p:nvPr/>
        </p:nvSpPr>
        <p:spPr>
          <a:xfrm>
            <a:off x="866775" y="2909887"/>
            <a:ext cx="506063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Nodes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83" name="Google Shape;283;p26">
            <a:extLst>
              <a:ext uri="{FF2B5EF4-FFF2-40B4-BE49-F238E27FC236}">
                <a16:creationId xmlns:a16="http://schemas.microsoft.com/office/drawing/2014/main" id="{CD00E15E-223A-220B-315B-8592BA55CEA5}"/>
              </a:ext>
            </a:extLst>
          </p:cNvPr>
          <p:cNvSpPr txBox="1"/>
          <p:nvPr/>
        </p:nvSpPr>
        <p:spPr>
          <a:xfrm>
            <a:off x="866775" y="3243262"/>
            <a:ext cx="48196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12 x (8 vCPU, 32 GB RAM)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84" name="Google Shape;284;p26">
            <a:extLst>
              <a:ext uri="{FF2B5EF4-FFF2-40B4-BE49-F238E27FC236}">
                <a16:creationId xmlns:a16="http://schemas.microsoft.com/office/drawing/2014/main" id="{EF97ED67-2087-F53B-3D10-96D659B69B03}"/>
              </a:ext>
            </a:extLst>
          </p:cNvPr>
          <p:cNvSpPr txBox="1"/>
          <p:nvPr/>
        </p:nvSpPr>
        <p:spPr>
          <a:xfrm>
            <a:off x="6505575" y="2909887"/>
            <a:ext cx="506063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Orchestration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85" name="Google Shape;285;p26">
            <a:extLst>
              <a:ext uri="{FF2B5EF4-FFF2-40B4-BE49-F238E27FC236}">
                <a16:creationId xmlns:a16="http://schemas.microsoft.com/office/drawing/2014/main" id="{C78AE09F-7272-607E-0D20-08BCE346117E}"/>
              </a:ext>
            </a:extLst>
          </p:cNvPr>
          <p:cNvSpPr txBox="1"/>
          <p:nvPr/>
        </p:nvSpPr>
        <p:spPr>
          <a:xfrm>
            <a:off x="6505575" y="3243262"/>
            <a:ext cx="48196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Kubernetes 1.29 + Istio 1.18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86" name="Google Shape;286;p26">
            <a:extLst>
              <a:ext uri="{FF2B5EF4-FFF2-40B4-BE49-F238E27FC236}">
                <a16:creationId xmlns:a16="http://schemas.microsoft.com/office/drawing/2014/main" id="{A5CC0B33-5D49-8497-C90A-71794BFCB4EF}"/>
              </a:ext>
            </a:extLst>
          </p:cNvPr>
          <p:cNvSpPr txBox="1"/>
          <p:nvPr/>
        </p:nvSpPr>
        <p:spPr>
          <a:xfrm>
            <a:off x="866775" y="4348162"/>
            <a:ext cx="506063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Fault Injection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87" name="Google Shape;287;p26">
            <a:extLst>
              <a:ext uri="{FF2B5EF4-FFF2-40B4-BE49-F238E27FC236}">
                <a16:creationId xmlns:a16="http://schemas.microsoft.com/office/drawing/2014/main" id="{965928B7-7E10-564F-09A0-BB9AF87E8462}"/>
              </a:ext>
            </a:extLst>
          </p:cNvPr>
          <p:cNvSpPr txBox="1"/>
          <p:nvPr/>
        </p:nvSpPr>
        <p:spPr>
          <a:xfrm>
            <a:off x="866775" y="4681537"/>
            <a:ext cx="48196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Chaos Mesh 2.6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88" name="Google Shape;288;p26">
            <a:extLst>
              <a:ext uri="{FF2B5EF4-FFF2-40B4-BE49-F238E27FC236}">
                <a16:creationId xmlns:a16="http://schemas.microsoft.com/office/drawing/2014/main" id="{0C9CD0AC-6445-7FB6-94CB-36E943100F07}"/>
              </a:ext>
            </a:extLst>
          </p:cNvPr>
          <p:cNvSpPr txBox="1"/>
          <p:nvPr/>
        </p:nvSpPr>
        <p:spPr>
          <a:xfrm>
            <a:off x="6505575" y="4348162"/>
            <a:ext cx="506063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Monitoring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89" name="Google Shape;289;p26">
            <a:extLst>
              <a:ext uri="{FF2B5EF4-FFF2-40B4-BE49-F238E27FC236}">
                <a16:creationId xmlns:a16="http://schemas.microsoft.com/office/drawing/2014/main" id="{5378B851-C745-B8C9-A722-E731FFD913DF}"/>
              </a:ext>
            </a:extLst>
          </p:cNvPr>
          <p:cNvSpPr txBox="1"/>
          <p:nvPr/>
        </p:nvSpPr>
        <p:spPr>
          <a:xfrm>
            <a:off x="6505575" y="4681537"/>
            <a:ext cx="48196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Prometheus &amp; Jaeger Tracing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90" name="Google Shape;290;p26">
            <a:extLst>
              <a:ext uri="{FF2B5EF4-FFF2-40B4-BE49-F238E27FC236}">
                <a16:creationId xmlns:a16="http://schemas.microsoft.com/office/drawing/2014/main" id="{3C5AD460-9DF9-4CF9-ED2E-2290E1E05A79}"/>
              </a:ext>
            </a:extLst>
          </p:cNvPr>
          <p:cNvSpPr txBox="1"/>
          <p:nvPr/>
        </p:nvSpPr>
        <p:spPr>
          <a:xfrm>
            <a:off x="10829925" y="285750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4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91" name="Google Shape;291;p26">
            <a:extLst>
              <a:ext uri="{FF2B5EF4-FFF2-40B4-BE49-F238E27FC236}">
                <a16:creationId xmlns:a16="http://schemas.microsoft.com/office/drawing/2014/main" id="{646F69AA-E7BE-DF8E-8236-5601601C2D2B}"/>
              </a:ext>
            </a:extLst>
          </p:cNvPr>
          <p:cNvSpPr txBox="1"/>
          <p:nvPr/>
        </p:nvSpPr>
        <p:spPr>
          <a:xfrm>
            <a:off x="571500" y="949107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Infrastructure Setup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0A09E05B-2D2C-29EE-A08D-1A6B0F332ED8}"/>
              </a:ext>
            </a:extLst>
          </p:cNvPr>
          <p:cNvSpPr/>
          <p:nvPr/>
        </p:nvSpPr>
        <p:spPr>
          <a:xfrm>
            <a:off x="571500" y="2614612"/>
            <a:ext cx="5410200" cy="1203499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AC5FDC61-7214-DD55-0A41-7D793750869C}"/>
              </a:ext>
            </a:extLst>
          </p:cNvPr>
          <p:cNvSpPr/>
          <p:nvPr/>
        </p:nvSpPr>
        <p:spPr>
          <a:xfrm>
            <a:off x="6210300" y="2614612"/>
            <a:ext cx="5410200" cy="1203499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B3968A03-916C-DD84-11CD-57C03D1441F9}"/>
              </a:ext>
            </a:extLst>
          </p:cNvPr>
          <p:cNvSpPr/>
          <p:nvPr/>
        </p:nvSpPr>
        <p:spPr>
          <a:xfrm>
            <a:off x="571500" y="4059063"/>
            <a:ext cx="5410200" cy="1203499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C27BDA26-2731-7A59-D7CE-05091B88BBEA}"/>
              </a:ext>
            </a:extLst>
          </p:cNvPr>
          <p:cNvSpPr/>
          <p:nvPr/>
        </p:nvSpPr>
        <p:spPr>
          <a:xfrm>
            <a:off x="6222682" y="4046711"/>
            <a:ext cx="5410200" cy="1203499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70658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95">
          <a:extLst>
            <a:ext uri="{FF2B5EF4-FFF2-40B4-BE49-F238E27FC236}">
              <a16:creationId xmlns:a16="http://schemas.microsoft.com/office/drawing/2014/main" id="{A92439C3-BA7C-1890-AC0D-AE0E05E6F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">
            <a:extLst>
              <a:ext uri="{FF2B5EF4-FFF2-40B4-BE49-F238E27FC236}">
                <a16:creationId xmlns:a16="http://schemas.microsoft.com/office/drawing/2014/main" id="{147547CD-3CC2-E6B3-4ADF-AACAEFC9AA35}"/>
              </a:ext>
            </a:extLst>
          </p:cNvPr>
          <p:cNvSpPr txBox="1"/>
          <p:nvPr/>
        </p:nvSpPr>
        <p:spPr>
          <a:xfrm>
            <a:off x="904875" y="3081337"/>
            <a:ext cx="107156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Avg. Latency (p50):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E2E checkout response at gateway.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98" name="Google Shape;298;p27">
            <a:extLst>
              <a:ext uri="{FF2B5EF4-FFF2-40B4-BE49-F238E27FC236}">
                <a16:creationId xmlns:a16="http://schemas.microsoft.com/office/drawing/2014/main" id="{1C062781-86F7-D728-9A86-ECCA0AC43F3B}"/>
              </a:ext>
            </a:extLst>
          </p:cNvPr>
          <p:cNvSpPr txBox="1"/>
          <p:nvPr/>
        </p:nvSpPr>
        <p:spPr>
          <a:xfrm>
            <a:off x="904875" y="3509962"/>
            <a:ext cx="107156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Deploy Time: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Commit-to-prod healthy wall-clock time.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99" name="Google Shape;299;p27">
            <a:extLst>
              <a:ext uri="{FF2B5EF4-FFF2-40B4-BE49-F238E27FC236}">
                <a16:creationId xmlns:a16="http://schemas.microsoft.com/office/drawing/2014/main" id="{F5DA6626-ADE7-D1FC-8812-5B833B8F4CAA}"/>
              </a:ext>
            </a:extLst>
          </p:cNvPr>
          <p:cNvSpPr txBox="1"/>
          <p:nvPr/>
        </p:nvSpPr>
        <p:spPr>
          <a:xfrm>
            <a:off x="904875" y="3938587"/>
            <a:ext cx="107156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Fault Isolation: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% of failures not propagated through mesh.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00" name="Google Shape;300;p27">
            <a:extLst>
              <a:ext uri="{FF2B5EF4-FFF2-40B4-BE49-F238E27FC236}">
                <a16:creationId xmlns:a16="http://schemas.microsoft.com/office/drawing/2014/main" id="{663DD456-C8F8-CE22-657B-5EF8EFA6AFBB}"/>
              </a:ext>
            </a:extLst>
          </p:cNvPr>
          <p:cNvSpPr txBox="1"/>
          <p:nvPr/>
        </p:nvSpPr>
        <p:spPr>
          <a:xfrm>
            <a:off x="904875" y="4367212"/>
            <a:ext cx="107156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Team Autonomy: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Likert survey on ownership clarity.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01" name="Google Shape;301;p27">
            <a:extLst>
              <a:ext uri="{FF2B5EF4-FFF2-40B4-BE49-F238E27FC236}">
                <a16:creationId xmlns:a16="http://schemas.microsoft.com/office/drawing/2014/main" id="{87FFE2C2-2789-C4E0-278D-B4F65F2A9EBA}"/>
              </a:ext>
            </a:extLst>
          </p:cNvPr>
          <p:cNvSpPr txBox="1"/>
          <p:nvPr/>
        </p:nvSpPr>
        <p:spPr>
          <a:xfrm>
            <a:off x="571500" y="2938462"/>
            <a:ext cx="762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02" name="Google Shape;302;p27">
            <a:extLst>
              <a:ext uri="{FF2B5EF4-FFF2-40B4-BE49-F238E27FC236}">
                <a16:creationId xmlns:a16="http://schemas.microsoft.com/office/drawing/2014/main" id="{AACB059C-49CB-3EA2-3082-DA1B6AD05DDC}"/>
              </a:ext>
            </a:extLst>
          </p:cNvPr>
          <p:cNvSpPr txBox="1"/>
          <p:nvPr/>
        </p:nvSpPr>
        <p:spPr>
          <a:xfrm>
            <a:off x="571500" y="3327991"/>
            <a:ext cx="762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03" name="Google Shape;303;p27">
            <a:extLst>
              <a:ext uri="{FF2B5EF4-FFF2-40B4-BE49-F238E27FC236}">
                <a16:creationId xmlns:a16="http://schemas.microsoft.com/office/drawing/2014/main" id="{742EFFD5-090D-4237-AA0C-49DF013A9E48}"/>
              </a:ext>
            </a:extLst>
          </p:cNvPr>
          <p:cNvSpPr txBox="1"/>
          <p:nvPr/>
        </p:nvSpPr>
        <p:spPr>
          <a:xfrm>
            <a:off x="571500" y="3722181"/>
            <a:ext cx="762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04" name="Google Shape;304;p27">
            <a:extLst>
              <a:ext uri="{FF2B5EF4-FFF2-40B4-BE49-F238E27FC236}">
                <a16:creationId xmlns:a16="http://schemas.microsoft.com/office/drawing/2014/main" id="{C8323907-29F0-A12E-2424-7A39DB596FB2}"/>
              </a:ext>
            </a:extLst>
          </p:cNvPr>
          <p:cNvSpPr txBox="1"/>
          <p:nvPr/>
        </p:nvSpPr>
        <p:spPr>
          <a:xfrm>
            <a:off x="571500" y="4224337"/>
            <a:ext cx="762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05" name="Google Shape;305;p27">
            <a:extLst>
              <a:ext uri="{FF2B5EF4-FFF2-40B4-BE49-F238E27FC236}">
                <a16:creationId xmlns:a16="http://schemas.microsoft.com/office/drawing/2014/main" id="{7D73BA22-6CF7-E42F-E2C1-DA946DA490D6}"/>
              </a:ext>
            </a:extLst>
          </p:cNvPr>
          <p:cNvSpPr txBox="1"/>
          <p:nvPr/>
        </p:nvSpPr>
        <p:spPr>
          <a:xfrm>
            <a:off x="10829925" y="285750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4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06" name="Google Shape;306;p27">
            <a:extLst>
              <a:ext uri="{FF2B5EF4-FFF2-40B4-BE49-F238E27FC236}">
                <a16:creationId xmlns:a16="http://schemas.microsoft.com/office/drawing/2014/main" id="{975765B4-156B-35A0-224F-2C506AE0BD29}"/>
              </a:ext>
            </a:extLst>
          </p:cNvPr>
          <p:cNvSpPr txBox="1"/>
          <p:nvPr/>
        </p:nvSpPr>
        <p:spPr>
          <a:xfrm>
            <a:off x="571500" y="1217443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Evaluation Metrics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5163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10">
          <a:extLst>
            <a:ext uri="{FF2B5EF4-FFF2-40B4-BE49-F238E27FC236}">
              <a16:creationId xmlns:a16="http://schemas.microsoft.com/office/drawing/2014/main" id="{45BA9DF4-8C40-355C-6E9A-45EA4F3D7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">
            <a:extLst>
              <a:ext uri="{FF2B5EF4-FFF2-40B4-BE49-F238E27FC236}">
                <a16:creationId xmlns:a16="http://schemas.microsoft.com/office/drawing/2014/main" id="{D9D13FC7-1A44-90B2-F211-EA3C30322459}"/>
              </a:ext>
            </a:extLst>
          </p:cNvPr>
          <p:cNvSpPr txBox="1"/>
          <p:nvPr/>
        </p:nvSpPr>
        <p:spPr>
          <a:xfrm>
            <a:off x="571500" y="2114550"/>
            <a:ext cx="11049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Comparison of service counts across different methodologies applied to </a:t>
            </a: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ShopFlow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:</a:t>
            </a:r>
            <a:endParaRPr dirty="0">
              <a:solidFill>
                <a:schemeClr val="tx1"/>
              </a:solidFill>
            </a:endParaRPr>
          </a:p>
        </p:txBody>
      </p:sp>
      <p:graphicFrame>
        <p:nvGraphicFramePr>
          <p:cNvPr id="313" name="Google Shape;313;p28">
            <a:extLst>
              <a:ext uri="{FF2B5EF4-FFF2-40B4-BE49-F238E27FC236}">
                <a16:creationId xmlns:a16="http://schemas.microsoft.com/office/drawing/2014/main" id="{E9B2A54E-AA13-385F-1668-DEED5D7951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7553885"/>
              </p:ext>
            </p:extLst>
          </p:nvPr>
        </p:nvGraphicFramePr>
        <p:xfrm>
          <a:off x="571500" y="2781300"/>
          <a:ext cx="11049000" cy="2981375"/>
        </p:xfrm>
        <a:graphic>
          <a:graphicData uri="http://schemas.openxmlformats.org/drawingml/2006/table">
            <a:tbl>
              <a:tblPr firstRow="1" bandRow="1">
                <a:noFill/>
                <a:tableStyleId>{D8C26042-0A46-4E34-9972-EE30121D522F}</a:tableStyleId>
              </a:tblPr>
              <a:tblGrid>
                <a:gridCol w="311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Scenario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Methodology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Service Count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A: Baseline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Status Quo (Informal DDD)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34 Services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B: Formal DDD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Expert Event Storming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28 Services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C: ML Clust.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Spectral Clustering (Hard)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31 Services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D: GODF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Our Multi-Signal Engine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26 Services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4" name="Google Shape;314;p28">
            <a:extLst>
              <a:ext uri="{FF2B5EF4-FFF2-40B4-BE49-F238E27FC236}">
                <a16:creationId xmlns:a16="http://schemas.microsoft.com/office/drawing/2014/main" id="{EA2398B3-33C4-C601-7FB9-35A077B76918}"/>
              </a:ext>
            </a:extLst>
          </p:cNvPr>
          <p:cNvSpPr/>
          <p:nvPr/>
        </p:nvSpPr>
        <p:spPr>
          <a:xfrm>
            <a:off x="571500" y="3295650"/>
            <a:ext cx="3110805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8">
            <a:extLst>
              <a:ext uri="{FF2B5EF4-FFF2-40B4-BE49-F238E27FC236}">
                <a16:creationId xmlns:a16="http://schemas.microsoft.com/office/drawing/2014/main" id="{25C71E18-5BE0-DC3A-1572-6ACD0BEDF98D}"/>
              </a:ext>
            </a:extLst>
          </p:cNvPr>
          <p:cNvSpPr/>
          <p:nvPr/>
        </p:nvSpPr>
        <p:spPr>
          <a:xfrm>
            <a:off x="3682305" y="3295650"/>
            <a:ext cx="5238303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8">
            <a:extLst>
              <a:ext uri="{FF2B5EF4-FFF2-40B4-BE49-F238E27FC236}">
                <a16:creationId xmlns:a16="http://schemas.microsoft.com/office/drawing/2014/main" id="{C45D2893-6EF4-ACB8-48F3-EDCB0F59F1B4}"/>
              </a:ext>
            </a:extLst>
          </p:cNvPr>
          <p:cNvSpPr/>
          <p:nvPr/>
        </p:nvSpPr>
        <p:spPr>
          <a:xfrm>
            <a:off x="8920608" y="3295650"/>
            <a:ext cx="2699891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8">
            <a:extLst>
              <a:ext uri="{FF2B5EF4-FFF2-40B4-BE49-F238E27FC236}">
                <a16:creationId xmlns:a16="http://schemas.microsoft.com/office/drawing/2014/main" id="{F4065E68-0887-5748-C484-FFA6FBC1E680}"/>
              </a:ext>
            </a:extLst>
          </p:cNvPr>
          <p:cNvSpPr/>
          <p:nvPr/>
        </p:nvSpPr>
        <p:spPr>
          <a:xfrm>
            <a:off x="571500" y="3919537"/>
            <a:ext cx="31108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8">
            <a:extLst>
              <a:ext uri="{FF2B5EF4-FFF2-40B4-BE49-F238E27FC236}">
                <a16:creationId xmlns:a16="http://schemas.microsoft.com/office/drawing/2014/main" id="{F4F9DF73-BC2F-934C-38EA-8F6F0CFD885E}"/>
              </a:ext>
            </a:extLst>
          </p:cNvPr>
          <p:cNvSpPr/>
          <p:nvPr/>
        </p:nvSpPr>
        <p:spPr>
          <a:xfrm>
            <a:off x="3682305" y="3919537"/>
            <a:ext cx="52383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8">
            <a:extLst>
              <a:ext uri="{FF2B5EF4-FFF2-40B4-BE49-F238E27FC236}">
                <a16:creationId xmlns:a16="http://schemas.microsoft.com/office/drawing/2014/main" id="{71106FB6-39EE-C69A-437F-7EF3AC1616E8}"/>
              </a:ext>
            </a:extLst>
          </p:cNvPr>
          <p:cNvSpPr/>
          <p:nvPr/>
        </p:nvSpPr>
        <p:spPr>
          <a:xfrm>
            <a:off x="8920608" y="3919537"/>
            <a:ext cx="26998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8">
            <a:extLst>
              <a:ext uri="{FF2B5EF4-FFF2-40B4-BE49-F238E27FC236}">
                <a16:creationId xmlns:a16="http://schemas.microsoft.com/office/drawing/2014/main" id="{ABFB5926-68E5-86B1-B5C3-FC7138409943}"/>
              </a:ext>
            </a:extLst>
          </p:cNvPr>
          <p:cNvSpPr/>
          <p:nvPr/>
        </p:nvSpPr>
        <p:spPr>
          <a:xfrm>
            <a:off x="571500" y="4529137"/>
            <a:ext cx="31108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8">
            <a:extLst>
              <a:ext uri="{FF2B5EF4-FFF2-40B4-BE49-F238E27FC236}">
                <a16:creationId xmlns:a16="http://schemas.microsoft.com/office/drawing/2014/main" id="{C8C84529-B1AD-D506-083B-3B0A09F9F2B4}"/>
              </a:ext>
            </a:extLst>
          </p:cNvPr>
          <p:cNvSpPr/>
          <p:nvPr/>
        </p:nvSpPr>
        <p:spPr>
          <a:xfrm>
            <a:off x="3682305" y="4529137"/>
            <a:ext cx="52383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8">
            <a:extLst>
              <a:ext uri="{FF2B5EF4-FFF2-40B4-BE49-F238E27FC236}">
                <a16:creationId xmlns:a16="http://schemas.microsoft.com/office/drawing/2014/main" id="{00804413-4BA7-3673-6482-7BC093AC102C}"/>
              </a:ext>
            </a:extLst>
          </p:cNvPr>
          <p:cNvSpPr/>
          <p:nvPr/>
        </p:nvSpPr>
        <p:spPr>
          <a:xfrm>
            <a:off x="8920608" y="4529137"/>
            <a:ext cx="26998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>
            <a:extLst>
              <a:ext uri="{FF2B5EF4-FFF2-40B4-BE49-F238E27FC236}">
                <a16:creationId xmlns:a16="http://schemas.microsoft.com/office/drawing/2014/main" id="{08071829-78D0-099A-711C-C547D5796D52}"/>
              </a:ext>
            </a:extLst>
          </p:cNvPr>
          <p:cNvSpPr/>
          <p:nvPr/>
        </p:nvSpPr>
        <p:spPr>
          <a:xfrm>
            <a:off x="571500" y="5138737"/>
            <a:ext cx="31108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8">
            <a:extLst>
              <a:ext uri="{FF2B5EF4-FFF2-40B4-BE49-F238E27FC236}">
                <a16:creationId xmlns:a16="http://schemas.microsoft.com/office/drawing/2014/main" id="{2C1EE154-F1F0-FF5D-C774-154A35F97E56}"/>
              </a:ext>
            </a:extLst>
          </p:cNvPr>
          <p:cNvSpPr/>
          <p:nvPr/>
        </p:nvSpPr>
        <p:spPr>
          <a:xfrm>
            <a:off x="3682305" y="5138737"/>
            <a:ext cx="52383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8">
            <a:extLst>
              <a:ext uri="{FF2B5EF4-FFF2-40B4-BE49-F238E27FC236}">
                <a16:creationId xmlns:a16="http://schemas.microsoft.com/office/drawing/2014/main" id="{EA389C43-9ABD-7811-FEEA-0BDC12AFC79D}"/>
              </a:ext>
            </a:extLst>
          </p:cNvPr>
          <p:cNvSpPr/>
          <p:nvPr/>
        </p:nvSpPr>
        <p:spPr>
          <a:xfrm>
            <a:off x="8920608" y="5138737"/>
            <a:ext cx="26998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8">
            <a:extLst>
              <a:ext uri="{FF2B5EF4-FFF2-40B4-BE49-F238E27FC236}">
                <a16:creationId xmlns:a16="http://schemas.microsoft.com/office/drawing/2014/main" id="{D0AC8AA2-FDFB-D07D-0E39-6F958B1BA489}"/>
              </a:ext>
            </a:extLst>
          </p:cNvPr>
          <p:cNvSpPr/>
          <p:nvPr/>
        </p:nvSpPr>
        <p:spPr>
          <a:xfrm>
            <a:off x="571500" y="5748337"/>
            <a:ext cx="311080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8">
            <a:extLst>
              <a:ext uri="{FF2B5EF4-FFF2-40B4-BE49-F238E27FC236}">
                <a16:creationId xmlns:a16="http://schemas.microsoft.com/office/drawing/2014/main" id="{D159396C-8A6E-36CD-289C-22B22D550827}"/>
              </a:ext>
            </a:extLst>
          </p:cNvPr>
          <p:cNvSpPr/>
          <p:nvPr/>
        </p:nvSpPr>
        <p:spPr>
          <a:xfrm>
            <a:off x="3682305" y="5748337"/>
            <a:ext cx="52383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8">
            <a:extLst>
              <a:ext uri="{FF2B5EF4-FFF2-40B4-BE49-F238E27FC236}">
                <a16:creationId xmlns:a16="http://schemas.microsoft.com/office/drawing/2014/main" id="{85DE9F80-2DB3-D34D-6C20-8B0291F92C82}"/>
              </a:ext>
            </a:extLst>
          </p:cNvPr>
          <p:cNvSpPr/>
          <p:nvPr/>
        </p:nvSpPr>
        <p:spPr>
          <a:xfrm>
            <a:off x="8920608" y="5748337"/>
            <a:ext cx="269989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8">
            <a:extLst>
              <a:ext uri="{FF2B5EF4-FFF2-40B4-BE49-F238E27FC236}">
                <a16:creationId xmlns:a16="http://schemas.microsoft.com/office/drawing/2014/main" id="{68A74D35-9C1C-40A9-187E-ABE9227D6197}"/>
              </a:ext>
            </a:extLst>
          </p:cNvPr>
          <p:cNvSpPr txBox="1"/>
          <p:nvPr/>
        </p:nvSpPr>
        <p:spPr>
          <a:xfrm>
            <a:off x="10829925" y="285750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4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30" name="Google Shape;330;p28">
            <a:extLst>
              <a:ext uri="{FF2B5EF4-FFF2-40B4-BE49-F238E27FC236}">
                <a16:creationId xmlns:a16="http://schemas.microsoft.com/office/drawing/2014/main" id="{1F571C9D-4BAD-CE75-EE18-2949B1D3E9C2}"/>
              </a:ext>
            </a:extLst>
          </p:cNvPr>
          <p:cNvSpPr txBox="1"/>
          <p:nvPr/>
        </p:nvSpPr>
        <p:spPr>
          <a:xfrm>
            <a:off x="571500" y="957947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Experimental Scenarios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7617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34">
          <a:extLst>
            <a:ext uri="{FF2B5EF4-FFF2-40B4-BE49-F238E27FC236}">
              <a16:creationId xmlns:a16="http://schemas.microsoft.com/office/drawing/2014/main" id="{DF856B58-1761-621C-FA46-A3748BCB7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9">
            <a:extLst>
              <a:ext uri="{FF2B5EF4-FFF2-40B4-BE49-F238E27FC236}">
                <a16:creationId xmlns:a16="http://schemas.microsoft.com/office/drawing/2014/main" id="{A7ADC699-E608-BC8B-57DD-43EB104B3CA3}"/>
              </a:ext>
            </a:extLst>
          </p:cNvPr>
          <p:cNvSpPr txBox="1"/>
          <p:nvPr/>
        </p:nvSpPr>
        <p:spPr>
          <a:xfrm>
            <a:off x="571500" y="3128962"/>
            <a:ext cx="528637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31%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37" name="Google Shape;337;p29">
            <a:extLst>
              <a:ext uri="{FF2B5EF4-FFF2-40B4-BE49-F238E27FC236}">
                <a16:creationId xmlns:a16="http://schemas.microsoft.com/office/drawing/2014/main" id="{94C9C587-8DD8-2E7C-68BD-5849E37AA332}"/>
              </a:ext>
            </a:extLst>
          </p:cNvPr>
          <p:cNvSpPr txBox="1"/>
          <p:nvPr/>
        </p:nvSpPr>
        <p:spPr>
          <a:xfrm>
            <a:off x="571500" y="4462462"/>
            <a:ext cx="52863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Latency Reduction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38" name="Google Shape;338;p29">
            <a:extLst>
              <a:ext uri="{FF2B5EF4-FFF2-40B4-BE49-F238E27FC236}">
                <a16:creationId xmlns:a16="http://schemas.microsoft.com/office/drawing/2014/main" id="{F694A467-6C3A-5B59-74D7-28A689597354}"/>
              </a:ext>
            </a:extLst>
          </p:cNvPr>
          <p:cNvSpPr txBox="1"/>
          <p:nvPr/>
        </p:nvSpPr>
        <p:spPr>
          <a:xfrm>
            <a:off x="6334125" y="312896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Result Analysis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39" name="Google Shape;339;p29">
            <a:extLst>
              <a:ext uri="{FF2B5EF4-FFF2-40B4-BE49-F238E27FC236}">
                <a16:creationId xmlns:a16="http://schemas.microsoft.com/office/drawing/2014/main" id="{38A1EB1A-90C1-AF39-EBDD-1441DDC7C952}"/>
              </a:ext>
            </a:extLst>
          </p:cNvPr>
          <p:cNvSpPr txBox="1"/>
          <p:nvPr/>
        </p:nvSpPr>
        <p:spPr>
          <a:xfrm>
            <a:off x="6334125" y="3348037"/>
            <a:ext cx="52863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GODF achieved 33ms checkout latency (Baseline was 48ms).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40" name="Google Shape;340;p29">
            <a:extLst>
              <a:ext uri="{FF2B5EF4-FFF2-40B4-BE49-F238E27FC236}">
                <a16:creationId xmlns:a16="http://schemas.microsoft.com/office/drawing/2014/main" id="{BACDB4E4-7D75-0652-AEE2-17C92DAEE62F}"/>
              </a:ext>
            </a:extLst>
          </p:cNvPr>
          <p:cNvSpPr txBox="1"/>
          <p:nvPr/>
        </p:nvSpPr>
        <p:spPr>
          <a:xfrm>
            <a:off x="6667500" y="3824287"/>
            <a:ext cx="4953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Consolidated Catalog-Inventory affinity pairs.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5D51A71C-CB2E-DCF4-AFAC-53ED55D2312D}"/>
              </a:ext>
            </a:extLst>
          </p:cNvPr>
          <p:cNvSpPr txBox="1"/>
          <p:nvPr/>
        </p:nvSpPr>
        <p:spPr>
          <a:xfrm>
            <a:off x="6667500" y="4252912"/>
            <a:ext cx="4953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Eliminated 3 synchronous network hops per session.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42" name="Google Shape;342;p29">
            <a:extLst>
              <a:ext uri="{FF2B5EF4-FFF2-40B4-BE49-F238E27FC236}">
                <a16:creationId xmlns:a16="http://schemas.microsoft.com/office/drawing/2014/main" id="{37B5F888-1F81-F3D6-7AEF-D50057F5152C}"/>
              </a:ext>
            </a:extLst>
          </p:cNvPr>
          <p:cNvSpPr txBox="1"/>
          <p:nvPr/>
        </p:nvSpPr>
        <p:spPr>
          <a:xfrm>
            <a:off x="6334125" y="3681412"/>
            <a:ext cx="762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43" name="Google Shape;343;p29">
            <a:extLst>
              <a:ext uri="{FF2B5EF4-FFF2-40B4-BE49-F238E27FC236}">
                <a16:creationId xmlns:a16="http://schemas.microsoft.com/office/drawing/2014/main" id="{5F86662D-0BD5-92F9-39A4-A453DEB64C45}"/>
              </a:ext>
            </a:extLst>
          </p:cNvPr>
          <p:cNvSpPr txBox="1"/>
          <p:nvPr/>
        </p:nvSpPr>
        <p:spPr>
          <a:xfrm>
            <a:off x="6334125" y="4110037"/>
            <a:ext cx="762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44" name="Google Shape;344;p29">
            <a:extLst>
              <a:ext uri="{FF2B5EF4-FFF2-40B4-BE49-F238E27FC236}">
                <a16:creationId xmlns:a16="http://schemas.microsoft.com/office/drawing/2014/main" id="{7B9F9F77-0800-3EA1-5C4A-2A8718879B7D}"/>
              </a:ext>
            </a:extLst>
          </p:cNvPr>
          <p:cNvSpPr txBox="1"/>
          <p:nvPr/>
        </p:nvSpPr>
        <p:spPr>
          <a:xfrm>
            <a:off x="10829925" y="285750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5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45" name="Google Shape;345;p29">
            <a:extLst>
              <a:ext uri="{FF2B5EF4-FFF2-40B4-BE49-F238E27FC236}">
                <a16:creationId xmlns:a16="http://schemas.microsoft.com/office/drawing/2014/main" id="{66D57742-D974-E6DF-470E-14B8285747AB}"/>
              </a:ext>
            </a:extLst>
          </p:cNvPr>
          <p:cNvSpPr txBox="1"/>
          <p:nvPr/>
        </p:nvSpPr>
        <p:spPr>
          <a:xfrm>
            <a:off x="571500" y="1141987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Impact: Performance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87156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9">
          <a:extLst>
            <a:ext uri="{FF2B5EF4-FFF2-40B4-BE49-F238E27FC236}">
              <a16:creationId xmlns:a16="http://schemas.microsoft.com/office/drawing/2014/main" id="{91B26532-5ABC-4AF3-2C1B-B62D365F8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0" descr="image.png">
            <a:extLst>
              <a:ext uri="{FF2B5EF4-FFF2-40B4-BE49-F238E27FC236}">
                <a16:creationId xmlns:a16="http://schemas.microsoft.com/office/drawing/2014/main" id="{5F6585C5-8922-40C8-3A54-1FF1BB74368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>
            <a:extLst>
              <a:ext uri="{FF2B5EF4-FFF2-40B4-BE49-F238E27FC236}">
                <a16:creationId xmlns:a16="http://schemas.microsoft.com/office/drawing/2014/main" id="{E3B2935E-D655-A3B6-997C-7667444FDA7C}"/>
              </a:ext>
            </a:extLst>
          </p:cNvPr>
          <p:cNvSpPr txBox="1"/>
          <p:nvPr/>
        </p:nvSpPr>
        <p:spPr>
          <a:xfrm>
            <a:off x="6334125" y="179546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Fault Isolation Score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53" name="Google Shape;353;p30">
            <a:extLst>
              <a:ext uri="{FF2B5EF4-FFF2-40B4-BE49-F238E27FC236}">
                <a16:creationId xmlns:a16="http://schemas.microsoft.com/office/drawing/2014/main" id="{308C0DEE-913B-4935-A23D-7DF9CB44CBCA}"/>
              </a:ext>
            </a:extLst>
          </p:cNvPr>
          <p:cNvSpPr txBox="1"/>
          <p:nvPr/>
        </p:nvSpPr>
        <p:spPr>
          <a:xfrm>
            <a:off x="6334125" y="2014537"/>
            <a:ext cx="528637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91%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54" name="Google Shape;354;p30">
            <a:extLst>
              <a:ext uri="{FF2B5EF4-FFF2-40B4-BE49-F238E27FC236}">
                <a16:creationId xmlns:a16="http://schemas.microsoft.com/office/drawing/2014/main" id="{6BF73C8E-0E79-EA58-F641-F666BE07D218}"/>
              </a:ext>
            </a:extLst>
          </p:cNvPr>
          <p:cNvSpPr txBox="1"/>
          <p:nvPr/>
        </p:nvSpPr>
        <p:spPr>
          <a:xfrm>
            <a:off x="6334125" y="3348037"/>
            <a:ext cx="52863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Improvement (150pp over baseline).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55" name="Google Shape;355;p30">
            <a:extLst>
              <a:ext uri="{FF2B5EF4-FFF2-40B4-BE49-F238E27FC236}">
                <a16:creationId xmlns:a16="http://schemas.microsoft.com/office/drawing/2014/main" id="{458D49E5-592C-9995-4CDD-5300E545D0F0}"/>
              </a:ext>
            </a:extLst>
          </p:cNvPr>
          <p:cNvSpPr txBox="1"/>
          <p:nvPr/>
        </p:nvSpPr>
        <p:spPr>
          <a:xfrm>
            <a:off x="6334125" y="3824287"/>
            <a:ext cx="52863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By replacing sync Checkout-to-Rec dependencies with asynchronous event-driven models.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56" name="Google Shape;356;p30">
            <a:extLst>
              <a:ext uri="{FF2B5EF4-FFF2-40B4-BE49-F238E27FC236}">
                <a16:creationId xmlns:a16="http://schemas.microsoft.com/office/drawing/2014/main" id="{6B66219F-4FE4-C7A0-9A8C-E9BA7C66D037}"/>
              </a:ext>
            </a:extLst>
          </p:cNvPr>
          <p:cNvSpPr txBox="1"/>
          <p:nvPr/>
        </p:nvSpPr>
        <p:spPr>
          <a:xfrm>
            <a:off x="10829925" y="285750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5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57" name="Google Shape;357;p30">
            <a:extLst>
              <a:ext uri="{FF2B5EF4-FFF2-40B4-BE49-F238E27FC236}">
                <a16:creationId xmlns:a16="http://schemas.microsoft.com/office/drawing/2014/main" id="{CC740235-E923-D9EF-325E-F056FD1D40A2}"/>
              </a:ext>
            </a:extLst>
          </p:cNvPr>
          <p:cNvSpPr txBox="1"/>
          <p:nvPr/>
        </p:nvSpPr>
        <p:spPr>
          <a:xfrm>
            <a:off x="815340" y="932423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Impact: Reliability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358" name="Google Shape;358;p30">
            <a:extLst>
              <a:ext uri="{FF2B5EF4-FFF2-40B4-BE49-F238E27FC236}">
                <a16:creationId xmlns:a16="http://schemas.microsoft.com/office/drawing/2014/main" id="{25374685-AF0F-728E-18BE-13C8213A2164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1795450"/>
            <a:ext cx="5286375" cy="4286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3189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62">
          <a:extLst>
            <a:ext uri="{FF2B5EF4-FFF2-40B4-BE49-F238E27FC236}">
              <a16:creationId xmlns:a16="http://schemas.microsoft.com/office/drawing/2014/main" id="{09D2153F-6045-D6D5-134B-676996206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1" descr="image.png">
            <a:extLst>
              <a:ext uri="{FF2B5EF4-FFF2-40B4-BE49-F238E27FC236}">
                <a16:creationId xmlns:a16="http://schemas.microsoft.com/office/drawing/2014/main" id="{1BFBA030-7402-409A-F437-A62D8CC962C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9546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1">
            <a:extLst>
              <a:ext uri="{FF2B5EF4-FFF2-40B4-BE49-F238E27FC236}">
                <a16:creationId xmlns:a16="http://schemas.microsoft.com/office/drawing/2014/main" id="{2EE35522-69B9-7D4A-BEDF-24E979A3DC30}"/>
              </a:ext>
            </a:extLst>
          </p:cNvPr>
          <p:cNvSpPr txBox="1"/>
          <p:nvPr/>
        </p:nvSpPr>
        <p:spPr>
          <a:xfrm>
            <a:off x="571500" y="179546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Team Autonomy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66" name="Google Shape;366;p31">
            <a:extLst>
              <a:ext uri="{FF2B5EF4-FFF2-40B4-BE49-F238E27FC236}">
                <a16:creationId xmlns:a16="http://schemas.microsoft.com/office/drawing/2014/main" id="{7BBC74FA-E23B-F1BA-EF2E-0E80EA733652}"/>
              </a:ext>
            </a:extLst>
          </p:cNvPr>
          <p:cNvSpPr txBox="1"/>
          <p:nvPr/>
        </p:nvSpPr>
        <p:spPr>
          <a:xfrm>
            <a:off x="571500" y="2014537"/>
            <a:ext cx="528637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110%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67" name="Google Shape;367;p31">
            <a:extLst>
              <a:ext uri="{FF2B5EF4-FFF2-40B4-BE49-F238E27FC236}">
                <a16:creationId xmlns:a16="http://schemas.microsoft.com/office/drawing/2014/main" id="{0E541197-C1BD-6180-E2EF-0D1A09CEC82F}"/>
              </a:ext>
            </a:extLst>
          </p:cNvPr>
          <p:cNvSpPr txBox="1"/>
          <p:nvPr/>
        </p:nvSpPr>
        <p:spPr>
          <a:xfrm>
            <a:off x="571500" y="3348037"/>
            <a:ext cx="52863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Autonomy Gain (Survey score 2.1 → 4.4).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68" name="Google Shape;368;p31">
            <a:extLst>
              <a:ext uri="{FF2B5EF4-FFF2-40B4-BE49-F238E27FC236}">
                <a16:creationId xmlns:a16="http://schemas.microsoft.com/office/drawing/2014/main" id="{CDFD8A38-90CB-8CB8-494A-7FAE10117C1A}"/>
              </a:ext>
            </a:extLst>
          </p:cNvPr>
          <p:cNvSpPr txBox="1"/>
          <p:nvPr/>
        </p:nvSpPr>
        <p:spPr>
          <a:xfrm>
            <a:off x="571500" y="3824287"/>
            <a:ext cx="52863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GODF boundaries align with development-team authorship structures, reducing cross-team blockers.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369" name="Google Shape;369;p31" descr="image.png">
            <a:extLst>
              <a:ext uri="{FF2B5EF4-FFF2-40B4-BE49-F238E27FC236}">
                <a16:creationId xmlns:a16="http://schemas.microsoft.com/office/drawing/2014/main" id="{BA63124E-D7C4-61A2-6558-CE9AB54E455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804987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1">
            <a:extLst>
              <a:ext uri="{FF2B5EF4-FFF2-40B4-BE49-F238E27FC236}">
                <a16:creationId xmlns:a16="http://schemas.microsoft.com/office/drawing/2014/main" id="{79A7C72D-6A8B-DF7D-5CEB-F1D3FEFD523B}"/>
              </a:ext>
            </a:extLst>
          </p:cNvPr>
          <p:cNvSpPr txBox="1"/>
          <p:nvPr/>
        </p:nvSpPr>
        <p:spPr>
          <a:xfrm>
            <a:off x="10829925" y="285750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5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71" name="Google Shape;371;p31">
            <a:extLst>
              <a:ext uri="{FF2B5EF4-FFF2-40B4-BE49-F238E27FC236}">
                <a16:creationId xmlns:a16="http://schemas.microsoft.com/office/drawing/2014/main" id="{B6E73DE8-1266-613F-6C4E-CD060E49D6EC}"/>
              </a:ext>
            </a:extLst>
          </p:cNvPr>
          <p:cNvSpPr txBox="1"/>
          <p:nvPr/>
        </p:nvSpPr>
        <p:spPr>
          <a:xfrm>
            <a:off x="542925" y="932423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Impact: Flexibility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6106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75">
          <a:extLst>
            <a:ext uri="{FF2B5EF4-FFF2-40B4-BE49-F238E27FC236}">
              <a16:creationId xmlns:a16="http://schemas.microsoft.com/office/drawing/2014/main" id="{2121BA76-A837-0CA3-2D29-75DB3DD1F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2">
            <a:extLst>
              <a:ext uri="{FF2B5EF4-FFF2-40B4-BE49-F238E27FC236}">
                <a16:creationId xmlns:a16="http://schemas.microsoft.com/office/drawing/2014/main" id="{9A7F16A5-BDF4-DCD4-22B8-CC24C275DD2D}"/>
              </a:ext>
            </a:extLst>
          </p:cNvPr>
          <p:cNvSpPr txBox="1"/>
          <p:nvPr/>
        </p:nvSpPr>
        <p:spPr>
          <a:xfrm>
            <a:off x="866775" y="3248025"/>
            <a:ext cx="109813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Deployment Speedup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79" name="Google Shape;379;p32">
            <a:extLst>
              <a:ext uri="{FF2B5EF4-FFF2-40B4-BE49-F238E27FC236}">
                <a16:creationId xmlns:a16="http://schemas.microsoft.com/office/drawing/2014/main" id="{CFA05CB7-0457-80A7-877E-605589F0569A}"/>
              </a:ext>
            </a:extLst>
          </p:cNvPr>
          <p:cNvSpPr txBox="1"/>
          <p:nvPr/>
        </p:nvSpPr>
        <p:spPr>
          <a:xfrm>
            <a:off x="866775" y="3581400"/>
            <a:ext cx="104584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GODF reduced deploy pipeline time from 42 to 24 minutes (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43% reduction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).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80" name="Google Shape;380;p32">
            <a:extLst>
              <a:ext uri="{FF2B5EF4-FFF2-40B4-BE49-F238E27FC236}">
                <a16:creationId xmlns:a16="http://schemas.microsoft.com/office/drawing/2014/main" id="{09FDC269-7420-F285-5855-F2A70968CB2D}"/>
              </a:ext>
            </a:extLst>
          </p:cNvPr>
          <p:cNvSpPr txBox="1"/>
          <p:nvPr/>
        </p:nvSpPr>
        <p:spPr>
          <a:xfrm>
            <a:off x="866775" y="4057650"/>
            <a:ext cx="104584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Lower service fan-out means fewer dependent pipelines are triggered per feature release, saving compute cost and dev time.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81" name="Google Shape;381;p32">
            <a:extLst>
              <a:ext uri="{FF2B5EF4-FFF2-40B4-BE49-F238E27FC236}">
                <a16:creationId xmlns:a16="http://schemas.microsoft.com/office/drawing/2014/main" id="{97C5C430-E1D5-8AAC-545C-ECF119FA30AF}"/>
              </a:ext>
            </a:extLst>
          </p:cNvPr>
          <p:cNvSpPr txBox="1"/>
          <p:nvPr/>
        </p:nvSpPr>
        <p:spPr>
          <a:xfrm>
            <a:off x="10829925" y="285750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5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82" name="Google Shape;382;p32">
            <a:extLst>
              <a:ext uri="{FF2B5EF4-FFF2-40B4-BE49-F238E27FC236}">
                <a16:creationId xmlns:a16="http://schemas.microsoft.com/office/drawing/2014/main" id="{CC850C94-F859-9239-0CE5-5F6E1FE47B44}"/>
              </a:ext>
            </a:extLst>
          </p:cNvPr>
          <p:cNvSpPr txBox="1"/>
          <p:nvPr/>
        </p:nvSpPr>
        <p:spPr>
          <a:xfrm>
            <a:off x="522605" y="1144369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Impact: Cost Efficiency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15786983-AA1F-C1E6-FA10-12D7D8A26111}"/>
              </a:ext>
            </a:extLst>
          </p:cNvPr>
          <p:cNvSpPr/>
          <p:nvPr/>
        </p:nvSpPr>
        <p:spPr>
          <a:xfrm>
            <a:off x="571500" y="2952750"/>
            <a:ext cx="11049000" cy="1971675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5428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86">
          <a:extLst>
            <a:ext uri="{FF2B5EF4-FFF2-40B4-BE49-F238E27FC236}">
              <a16:creationId xmlns:a16="http://schemas.microsoft.com/office/drawing/2014/main" id="{74B34D31-AF8B-794D-F5C8-B4DD42FA7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">
            <a:extLst>
              <a:ext uri="{FF2B5EF4-FFF2-40B4-BE49-F238E27FC236}">
                <a16:creationId xmlns:a16="http://schemas.microsoft.com/office/drawing/2014/main" id="{3824CCE0-4EAB-730E-6136-4AC1A4850B59}"/>
              </a:ext>
            </a:extLst>
          </p:cNvPr>
          <p:cNvSpPr txBox="1"/>
          <p:nvPr/>
        </p:nvSpPr>
        <p:spPr>
          <a:xfrm>
            <a:off x="866775" y="3486150"/>
            <a:ext cx="109813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Multi-Signal vs Single-Signal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90" name="Google Shape;390;p33">
            <a:extLst>
              <a:ext uri="{FF2B5EF4-FFF2-40B4-BE49-F238E27FC236}">
                <a16:creationId xmlns:a16="http://schemas.microsoft.com/office/drawing/2014/main" id="{90456C8D-BE4E-4336-DCE5-E637959A0090}"/>
              </a:ext>
            </a:extLst>
          </p:cNvPr>
          <p:cNvSpPr txBox="1"/>
          <p:nvPr/>
        </p:nvSpPr>
        <p:spPr>
          <a:xfrm>
            <a:off x="866775" y="3819525"/>
            <a:ext cx="104584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DDD captures business but ignores runtime; ML minimizes coupling but ignores teams. GODF's hybrid scoring is the only scenario that improved 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all 5 metrics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simultaneously.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91" name="Google Shape;391;p33">
            <a:extLst>
              <a:ext uri="{FF2B5EF4-FFF2-40B4-BE49-F238E27FC236}">
                <a16:creationId xmlns:a16="http://schemas.microsoft.com/office/drawing/2014/main" id="{57BC350F-A700-3CCE-4745-708FC355EDFE}"/>
              </a:ext>
            </a:extLst>
          </p:cNvPr>
          <p:cNvSpPr txBox="1"/>
          <p:nvPr/>
        </p:nvSpPr>
        <p:spPr>
          <a:xfrm>
            <a:off x="10829925" y="285750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6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92" name="Google Shape;392;p33">
            <a:extLst>
              <a:ext uri="{FF2B5EF4-FFF2-40B4-BE49-F238E27FC236}">
                <a16:creationId xmlns:a16="http://schemas.microsoft.com/office/drawing/2014/main" id="{95D1EF45-48E5-C63E-D658-366F97424127}"/>
              </a:ext>
            </a:extLst>
          </p:cNvPr>
          <p:cNvSpPr txBox="1"/>
          <p:nvPr/>
        </p:nvSpPr>
        <p:spPr>
          <a:xfrm>
            <a:off x="556736" y="1025306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Result Synergy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213EA98C-8E54-F227-A3CB-FC700F0A4F1D}"/>
              </a:ext>
            </a:extLst>
          </p:cNvPr>
          <p:cNvSpPr/>
          <p:nvPr/>
        </p:nvSpPr>
        <p:spPr>
          <a:xfrm>
            <a:off x="464820" y="3177540"/>
            <a:ext cx="11155680" cy="1746885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9288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96">
          <a:extLst>
            <a:ext uri="{FF2B5EF4-FFF2-40B4-BE49-F238E27FC236}">
              <a16:creationId xmlns:a16="http://schemas.microsoft.com/office/drawing/2014/main" id="{1A0F2B8B-27C4-D4DB-9072-79A6B0160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4">
            <a:extLst>
              <a:ext uri="{FF2B5EF4-FFF2-40B4-BE49-F238E27FC236}">
                <a16:creationId xmlns:a16="http://schemas.microsoft.com/office/drawing/2014/main" id="{78321D47-8F69-78B0-3105-904211DE1B5D}"/>
              </a:ext>
            </a:extLst>
          </p:cNvPr>
          <p:cNvSpPr txBox="1"/>
          <p:nvPr/>
        </p:nvSpPr>
        <p:spPr>
          <a:xfrm>
            <a:off x="904875" y="3509962"/>
            <a:ext cx="107156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Acceptance: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Architects accepted 9 out of 11 GODF recommendations (82%).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99" name="Google Shape;399;p34">
            <a:extLst>
              <a:ext uri="{FF2B5EF4-FFF2-40B4-BE49-F238E27FC236}">
                <a16:creationId xmlns:a16="http://schemas.microsoft.com/office/drawing/2014/main" id="{0DB701B4-359A-56EF-B596-D67829858CEB}"/>
              </a:ext>
            </a:extLst>
          </p:cNvPr>
          <p:cNvSpPr txBox="1"/>
          <p:nvPr/>
        </p:nvSpPr>
        <p:spPr>
          <a:xfrm>
            <a:off x="904875" y="3938587"/>
            <a:ext cx="107156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Speed: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Automated analysis took 40 mins vs 80 person-hours for manual DDD workshops.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00" name="Google Shape;400;p34">
            <a:extLst>
              <a:ext uri="{FF2B5EF4-FFF2-40B4-BE49-F238E27FC236}">
                <a16:creationId xmlns:a16="http://schemas.microsoft.com/office/drawing/2014/main" id="{D8890C56-0962-6D88-D644-FD0ABAA593EE}"/>
              </a:ext>
            </a:extLst>
          </p:cNvPr>
          <p:cNvSpPr txBox="1"/>
          <p:nvPr/>
        </p:nvSpPr>
        <p:spPr>
          <a:xfrm>
            <a:off x="571500" y="3367087"/>
            <a:ext cx="762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01" name="Google Shape;401;p34">
            <a:extLst>
              <a:ext uri="{FF2B5EF4-FFF2-40B4-BE49-F238E27FC236}">
                <a16:creationId xmlns:a16="http://schemas.microsoft.com/office/drawing/2014/main" id="{449F80DA-1362-4BD7-B07F-F8DD0EEDB572}"/>
              </a:ext>
            </a:extLst>
          </p:cNvPr>
          <p:cNvSpPr txBox="1"/>
          <p:nvPr/>
        </p:nvSpPr>
        <p:spPr>
          <a:xfrm>
            <a:off x="571500" y="3782377"/>
            <a:ext cx="762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02" name="Google Shape;402;p34">
            <a:extLst>
              <a:ext uri="{FF2B5EF4-FFF2-40B4-BE49-F238E27FC236}">
                <a16:creationId xmlns:a16="http://schemas.microsoft.com/office/drawing/2014/main" id="{872C3277-7217-EB3F-4547-01615C621574}"/>
              </a:ext>
            </a:extLst>
          </p:cNvPr>
          <p:cNvSpPr txBox="1"/>
          <p:nvPr/>
        </p:nvSpPr>
        <p:spPr>
          <a:xfrm>
            <a:off x="10829925" y="285750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6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03" name="Google Shape;403;p34">
            <a:extLst>
              <a:ext uri="{FF2B5EF4-FFF2-40B4-BE49-F238E27FC236}">
                <a16:creationId xmlns:a16="http://schemas.microsoft.com/office/drawing/2014/main" id="{BDC9DAB9-8214-A462-24BA-3D22BD658F6D}"/>
              </a:ext>
            </a:extLst>
          </p:cNvPr>
          <p:cNvSpPr txBox="1"/>
          <p:nvPr/>
        </p:nvSpPr>
        <p:spPr>
          <a:xfrm>
            <a:off x="618203" y="1189612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Shadow Deployment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3401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07">
          <a:extLst>
            <a:ext uri="{FF2B5EF4-FFF2-40B4-BE49-F238E27FC236}">
              <a16:creationId xmlns:a16="http://schemas.microsoft.com/office/drawing/2014/main" id="{BC5E9BB8-376D-3990-0A86-9A4E73AC3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5">
            <a:extLst>
              <a:ext uri="{FF2B5EF4-FFF2-40B4-BE49-F238E27FC236}">
                <a16:creationId xmlns:a16="http://schemas.microsoft.com/office/drawing/2014/main" id="{AC5F2FE3-9F74-06E1-FD35-249A39184616}"/>
              </a:ext>
            </a:extLst>
          </p:cNvPr>
          <p:cNvSpPr txBox="1"/>
          <p:nvPr/>
        </p:nvSpPr>
        <p:spPr>
          <a:xfrm>
            <a:off x="866775" y="3343275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Internal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12" name="Google Shape;412;p35">
            <a:extLst>
              <a:ext uri="{FF2B5EF4-FFF2-40B4-BE49-F238E27FC236}">
                <a16:creationId xmlns:a16="http://schemas.microsoft.com/office/drawing/2014/main" id="{C6BD3C18-732C-CB23-D3B0-424C0DC3BBC6}"/>
              </a:ext>
            </a:extLst>
          </p:cNvPr>
          <p:cNvSpPr txBox="1"/>
          <p:nvPr/>
        </p:nvSpPr>
        <p:spPr>
          <a:xfrm>
            <a:off x="866775" y="3676650"/>
            <a:ext cx="469582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Locust simulations model peak production load but rare high-cost operations (bulk order imports) may be under-sampled.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13" name="Google Shape;413;p35">
            <a:extLst>
              <a:ext uri="{FF2B5EF4-FFF2-40B4-BE49-F238E27FC236}">
                <a16:creationId xmlns:a16="http://schemas.microsoft.com/office/drawing/2014/main" id="{FC99AA98-5400-1966-4D3F-500110B2AAF9}"/>
              </a:ext>
            </a:extLst>
          </p:cNvPr>
          <p:cNvSpPr txBox="1"/>
          <p:nvPr/>
        </p:nvSpPr>
        <p:spPr>
          <a:xfrm>
            <a:off x="6629400" y="3343275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External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14" name="Google Shape;414;p35">
            <a:extLst>
              <a:ext uri="{FF2B5EF4-FFF2-40B4-BE49-F238E27FC236}">
                <a16:creationId xmlns:a16="http://schemas.microsoft.com/office/drawing/2014/main" id="{ED26B6E5-D903-44B7-5FC8-22697B2D0993}"/>
              </a:ext>
            </a:extLst>
          </p:cNvPr>
          <p:cNvSpPr txBox="1"/>
          <p:nvPr/>
        </p:nvSpPr>
        <p:spPr>
          <a:xfrm>
            <a:off x="6629400" y="3676650"/>
            <a:ext cx="469582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ShopFlow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is a retail monolith. High-frequency financial trading or real-time IoT domains might require different weighting.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15" name="Google Shape;415;p35">
            <a:extLst>
              <a:ext uri="{FF2B5EF4-FFF2-40B4-BE49-F238E27FC236}">
                <a16:creationId xmlns:a16="http://schemas.microsoft.com/office/drawing/2014/main" id="{ACE3993E-62F2-C5E3-3318-FF9D2BD9FC68}"/>
              </a:ext>
            </a:extLst>
          </p:cNvPr>
          <p:cNvSpPr txBox="1"/>
          <p:nvPr/>
        </p:nvSpPr>
        <p:spPr>
          <a:xfrm>
            <a:off x="10829925" y="285750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6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16" name="Google Shape;416;p35">
            <a:extLst>
              <a:ext uri="{FF2B5EF4-FFF2-40B4-BE49-F238E27FC236}">
                <a16:creationId xmlns:a16="http://schemas.microsoft.com/office/drawing/2014/main" id="{48A41360-9AE3-9EB2-2F4E-0764915BD40C}"/>
              </a:ext>
            </a:extLst>
          </p:cNvPr>
          <p:cNvSpPr txBox="1"/>
          <p:nvPr/>
        </p:nvSpPr>
        <p:spPr>
          <a:xfrm>
            <a:off x="571500" y="999764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Internal &amp; External Validity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72F4FCB5-1AE1-13F1-B508-3D63FACADA7D}"/>
              </a:ext>
            </a:extLst>
          </p:cNvPr>
          <p:cNvSpPr/>
          <p:nvPr/>
        </p:nvSpPr>
        <p:spPr>
          <a:xfrm>
            <a:off x="571500" y="3048000"/>
            <a:ext cx="5286375" cy="1781175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131DA2B3-5E82-3A0A-13E5-A7D3D512778E}"/>
              </a:ext>
            </a:extLst>
          </p:cNvPr>
          <p:cNvSpPr/>
          <p:nvPr/>
        </p:nvSpPr>
        <p:spPr>
          <a:xfrm>
            <a:off x="6334124" y="3047999"/>
            <a:ext cx="5286375" cy="1781175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6425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20">
          <a:extLst>
            <a:ext uri="{FF2B5EF4-FFF2-40B4-BE49-F238E27FC236}">
              <a16:creationId xmlns:a16="http://schemas.microsoft.com/office/drawing/2014/main" id="{42CDED26-2A23-2C57-7653-9064EB8B8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6">
            <a:extLst>
              <a:ext uri="{FF2B5EF4-FFF2-40B4-BE49-F238E27FC236}">
                <a16:creationId xmlns:a16="http://schemas.microsoft.com/office/drawing/2014/main" id="{23CD5683-A911-6C49-1535-E03300296966}"/>
              </a:ext>
            </a:extLst>
          </p:cNvPr>
          <p:cNvSpPr txBox="1"/>
          <p:nvPr/>
        </p:nvSpPr>
        <p:spPr>
          <a:xfrm>
            <a:off x="904875" y="3509962"/>
            <a:ext cx="107156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Autonomy Score: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Likert scales subject to bias; mitigated by PR turnaround time triangulation.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23" name="Google Shape;423;p36">
            <a:extLst>
              <a:ext uri="{FF2B5EF4-FFF2-40B4-BE49-F238E27FC236}">
                <a16:creationId xmlns:a16="http://schemas.microsoft.com/office/drawing/2014/main" id="{B44C3C85-0A13-D8A6-027B-3705C6D80EB6}"/>
              </a:ext>
            </a:extLst>
          </p:cNvPr>
          <p:cNvSpPr txBox="1"/>
          <p:nvPr/>
        </p:nvSpPr>
        <p:spPr>
          <a:xfrm>
            <a:off x="904875" y="3938587"/>
            <a:ext cx="107156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Git Authorship:</a:t>
            </a: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Used as proxy for team structure; may lag behind organizational re-orgs.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24" name="Google Shape;424;p36">
            <a:extLst>
              <a:ext uri="{FF2B5EF4-FFF2-40B4-BE49-F238E27FC236}">
                <a16:creationId xmlns:a16="http://schemas.microsoft.com/office/drawing/2014/main" id="{71E57627-4515-C2F2-46CA-A78D2C1C3D49}"/>
              </a:ext>
            </a:extLst>
          </p:cNvPr>
          <p:cNvSpPr txBox="1"/>
          <p:nvPr/>
        </p:nvSpPr>
        <p:spPr>
          <a:xfrm>
            <a:off x="571500" y="3367087"/>
            <a:ext cx="762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25" name="Google Shape;425;p36">
            <a:extLst>
              <a:ext uri="{FF2B5EF4-FFF2-40B4-BE49-F238E27FC236}">
                <a16:creationId xmlns:a16="http://schemas.microsoft.com/office/drawing/2014/main" id="{EB0F8FE8-3677-4535-8210-0B1D8E38309D}"/>
              </a:ext>
            </a:extLst>
          </p:cNvPr>
          <p:cNvSpPr txBox="1"/>
          <p:nvPr/>
        </p:nvSpPr>
        <p:spPr>
          <a:xfrm>
            <a:off x="571500" y="3756616"/>
            <a:ext cx="76200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26" name="Google Shape;426;p36">
            <a:extLst>
              <a:ext uri="{FF2B5EF4-FFF2-40B4-BE49-F238E27FC236}">
                <a16:creationId xmlns:a16="http://schemas.microsoft.com/office/drawing/2014/main" id="{4680DC57-35CF-2BB3-91C6-3726FEFDBA0B}"/>
              </a:ext>
            </a:extLst>
          </p:cNvPr>
          <p:cNvSpPr txBox="1"/>
          <p:nvPr/>
        </p:nvSpPr>
        <p:spPr>
          <a:xfrm>
            <a:off x="10829925" y="285750"/>
            <a:ext cx="7905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6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27" name="Google Shape;427;p36">
            <a:extLst>
              <a:ext uri="{FF2B5EF4-FFF2-40B4-BE49-F238E27FC236}">
                <a16:creationId xmlns:a16="http://schemas.microsoft.com/office/drawing/2014/main" id="{FD92C3ED-32BF-0680-ED6A-6905EE11B99C}"/>
              </a:ext>
            </a:extLst>
          </p:cNvPr>
          <p:cNvSpPr txBox="1"/>
          <p:nvPr/>
        </p:nvSpPr>
        <p:spPr>
          <a:xfrm>
            <a:off x="590550" y="1189612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Construct Validity</a:t>
            </a: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8736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31">
          <a:extLst>
            <a:ext uri="{FF2B5EF4-FFF2-40B4-BE49-F238E27FC236}">
              <a16:creationId xmlns:a16="http://schemas.microsoft.com/office/drawing/2014/main" id="{21FD3CFD-876C-7E51-9CFC-431D8F9E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7">
            <a:extLst>
              <a:ext uri="{FF2B5EF4-FFF2-40B4-BE49-F238E27FC236}">
                <a16:creationId xmlns:a16="http://schemas.microsoft.com/office/drawing/2014/main" id="{ED3E06EC-1716-00F7-6857-385429CA8707}"/>
              </a:ext>
            </a:extLst>
          </p:cNvPr>
          <p:cNvSpPr txBox="1"/>
          <p:nvPr/>
        </p:nvSpPr>
        <p:spPr>
          <a:xfrm>
            <a:off x="571500" y="285750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Key Takeaway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36" name="Google Shape;436;p37">
            <a:extLst>
              <a:ext uri="{FF2B5EF4-FFF2-40B4-BE49-F238E27FC236}">
                <a16:creationId xmlns:a16="http://schemas.microsoft.com/office/drawing/2014/main" id="{4A625FF0-599E-6A4B-29F8-561D87E0DA35}"/>
              </a:ext>
            </a:extLst>
          </p:cNvPr>
          <p:cNvSpPr txBox="1"/>
          <p:nvPr/>
        </p:nvSpPr>
        <p:spPr>
          <a:xfrm>
            <a:off x="571500" y="3076575"/>
            <a:ext cx="52863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Microservice granularity is not a static choice. Optimal health requires continuous, multi-signal evaluation.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37" name="Google Shape;437;p37">
            <a:extLst>
              <a:ext uri="{FF2B5EF4-FFF2-40B4-BE49-F238E27FC236}">
                <a16:creationId xmlns:a16="http://schemas.microsoft.com/office/drawing/2014/main" id="{3AB367F3-D4E0-4470-EA54-282A6C3BE651}"/>
              </a:ext>
            </a:extLst>
          </p:cNvPr>
          <p:cNvSpPr txBox="1"/>
          <p:nvPr/>
        </p:nvSpPr>
        <p:spPr>
          <a:xfrm>
            <a:off x="6629400" y="3152775"/>
            <a:ext cx="493061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d-GODF (Dynamic)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38" name="Google Shape;438;p37">
            <a:extLst>
              <a:ext uri="{FF2B5EF4-FFF2-40B4-BE49-F238E27FC236}">
                <a16:creationId xmlns:a16="http://schemas.microsoft.com/office/drawing/2014/main" id="{E5B1C43D-D9BF-4221-AF75-CCFD242875FD}"/>
              </a:ext>
            </a:extLst>
          </p:cNvPr>
          <p:cNvSpPr txBox="1"/>
          <p:nvPr/>
        </p:nvSpPr>
        <p:spPr>
          <a:xfrm>
            <a:off x="6629400" y="3486150"/>
            <a:ext cx="469582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tx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Future work involves runtime adaptation to adjust boundaries as business traffic shifts in real-time.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39" name="Google Shape;439;p37">
            <a:extLst>
              <a:ext uri="{FF2B5EF4-FFF2-40B4-BE49-F238E27FC236}">
                <a16:creationId xmlns:a16="http://schemas.microsoft.com/office/drawing/2014/main" id="{0F735617-EB7E-3EFA-EF53-C544A4A3D670}"/>
              </a:ext>
            </a:extLst>
          </p:cNvPr>
          <p:cNvSpPr txBox="1"/>
          <p:nvPr/>
        </p:nvSpPr>
        <p:spPr>
          <a:xfrm>
            <a:off x="10868025" y="285750"/>
            <a:ext cx="7524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tx1"/>
                </a:solidFill>
                <a:latin typeface="Urbanist"/>
                <a:ea typeface="Urbanist"/>
                <a:cs typeface="Urbanist"/>
                <a:sym typeface="Urbanist"/>
              </a:rPr>
              <a:t>MEMBER 1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40" name="Google Shape;440;p37">
            <a:extLst>
              <a:ext uri="{FF2B5EF4-FFF2-40B4-BE49-F238E27FC236}">
                <a16:creationId xmlns:a16="http://schemas.microsoft.com/office/drawing/2014/main" id="{7F3BAEE9-E436-087D-D72F-AB35A66403B2}"/>
              </a:ext>
            </a:extLst>
          </p:cNvPr>
          <p:cNvSpPr txBox="1"/>
          <p:nvPr/>
        </p:nvSpPr>
        <p:spPr>
          <a:xfrm>
            <a:off x="571500" y="1230094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 dirty="0">
                <a:solidFill>
                  <a:schemeClr val="tx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Conclusion &amp; Future work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CF0B8034-3D16-1CE4-256C-5866081E5D9A}"/>
              </a:ext>
            </a:extLst>
          </p:cNvPr>
          <p:cNvSpPr/>
          <p:nvPr/>
        </p:nvSpPr>
        <p:spPr>
          <a:xfrm>
            <a:off x="6334125" y="2857500"/>
            <a:ext cx="5286375" cy="1495425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76272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44">
          <a:extLst>
            <a:ext uri="{FF2B5EF4-FFF2-40B4-BE49-F238E27FC236}">
              <a16:creationId xmlns:a16="http://schemas.microsoft.com/office/drawing/2014/main" id="{50672AA7-219E-2A30-1FBF-C39E7BDA5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8">
            <a:extLst>
              <a:ext uri="{FF2B5EF4-FFF2-40B4-BE49-F238E27FC236}">
                <a16:creationId xmlns:a16="http://schemas.microsoft.com/office/drawing/2014/main" id="{DE616181-DEA3-D8FD-0B51-9E3945690162}"/>
              </a:ext>
            </a:extLst>
          </p:cNvPr>
          <p:cNvSpPr txBox="1"/>
          <p:nvPr/>
        </p:nvSpPr>
        <p:spPr>
          <a:xfrm>
            <a:off x="4179100" y="2607475"/>
            <a:ext cx="42504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chemeClr val="tx1"/>
                </a:solidFill>
                <a:latin typeface="Changa"/>
                <a:ea typeface="Changa"/>
                <a:cs typeface="Changa"/>
                <a:sym typeface="Changa"/>
              </a:rPr>
              <a:t>Thank You!</a:t>
            </a:r>
            <a:br>
              <a:rPr lang="en-US" sz="4200" b="1" dirty="0">
                <a:solidFill>
                  <a:schemeClr val="tx1"/>
                </a:solidFill>
                <a:latin typeface="Changa"/>
                <a:ea typeface="Changa"/>
                <a:cs typeface="Changa"/>
                <a:sym typeface="Changa"/>
              </a:rPr>
            </a:br>
            <a:r>
              <a:rPr lang="en-US" sz="1500" dirty="0">
                <a:solidFill>
                  <a:schemeClr val="tx1"/>
                </a:solidFill>
                <a:latin typeface="Lemonada Medium"/>
                <a:ea typeface="Lemonada Medium"/>
                <a:cs typeface="Lemonada Medium"/>
                <a:sym typeface="Lemonada Medium"/>
              </a:rPr>
              <a:t>Any Questions?</a:t>
            </a:r>
            <a:br>
              <a:rPr lang="en-US" sz="4200" b="1" dirty="0">
                <a:solidFill>
                  <a:schemeClr val="tx1"/>
                </a:solidFill>
                <a:latin typeface="Changa"/>
                <a:ea typeface="Changa"/>
                <a:cs typeface="Changa"/>
                <a:sym typeface="Changa"/>
              </a:rPr>
            </a:br>
            <a:endParaRPr b="1" dirty="0">
              <a:solidFill>
                <a:schemeClr val="tx1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</p:spTree>
    <p:extLst>
      <p:ext uri="{BB962C8B-B14F-4D97-AF65-F5344CB8AC3E}">
        <p14:creationId xmlns:p14="http://schemas.microsoft.com/office/powerpoint/2010/main" val="160525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1524</Words>
  <Application>Microsoft Office PowerPoint</Application>
  <PresentationFormat>Widescreen</PresentationFormat>
  <Paragraphs>383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Urbanist Medium</vt:lpstr>
      <vt:lpstr>Urbanist</vt:lpstr>
      <vt:lpstr>Arial</vt:lpstr>
      <vt:lpstr>Changa</vt:lpstr>
      <vt:lpstr>Wingdings</vt:lpstr>
      <vt:lpstr>Calibri</vt:lpstr>
      <vt:lpstr>Urbanist Light</vt:lpstr>
      <vt:lpstr>Lemonada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Nadira</dc:creator>
  <cp:lastModifiedBy>Merna Adel Abdelrahman Ibrahim</cp:lastModifiedBy>
  <cp:revision>7</cp:revision>
  <dcterms:modified xsi:type="dcterms:W3CDTF">2026-05-04T08:39:57Z</dcterms:modified>
</cp:coreProperties>
</file>